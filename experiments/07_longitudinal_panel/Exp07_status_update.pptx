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4000" b="1" i="0">
                <a:solidFill>
                  <a:srgbClr val="0B2545"/>
                </a:solidFill>
                <a:latin typeface="Georgia"/>
              </a:rPr>
              <a:t>The Local Path Not Taken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2200" b="0" i="0">
                <a:solidFill>
                  <a:srgbClr val="174BA6"/>
                </a:solidFill>
                <a:latin typeface="Georgia"/>
              </a:rPr>
              <a:t>Traffic Tromboning and Routing Inefficiency in Pakistan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0233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 spc="50">
                <a:solidFill>
                  <a:srgbClr val="8BA0B8"/>
                </a:solidFill>
                <a:latin typeface="Consolas"/>
              </a:rPr>
              <a:t>Experiment 07 — status update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4572000"/>
            <a:ext cx="1097280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02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THE EXPERIMENT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700" b="1" i="0">
                <a:solidFill>
                  <a:srgbClr val="0B2545"/>
                </a:solidFill>
                <a:latin typeface="Georgia"/>
              </a:rPr>
              <a:t>Does Pakistani traffic actually stay in Pakistan?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1" i="0">
                <a:solidFill>
                  <a:srgbClr val="0B2545"/>
                </a:solidFill>
                <a:latin typeface="Calibri"/>
              </a:rPr>
              <a:t>PTCL</a:t>
            </a:r>
            <a:r>
              <a:rPr sz="1450" b="0" i="0">
                <a:solidFill>
                  <a:srgbClr val="415C7A"/>
                </a:solidFill>
                <a:latin typeface="Calibri"/>
              </a:rPr>
              <a:t>, </a:t>
            </a:r>
            <a:r>
              <a:rPr sz="1450" b="1" i="0">
                <a:solidFill>
                  <a:srgbClr val="0B2545"/>
                </a:solidFill>
                <a:latin typeface="Calibri"/>
              </a:rPr>
              <a:t>Transworld</a:t>
            </a:r>
            <a:r>
              <a:rPr sz="1450" b="0" i="0">
                <a:solidFill>
                  <a:srgbClr val="415C7A"/>
                </a:solidFill>
                <a:latin typeface="Calibri"/>
              </a:rPr>
              <a:t>, and </a:t>
            </a:r>
            <a:r>
              <a:rPr sz="1450" b="1" i="0">
                <a:solidFill>
                  <a:srgbClr val="0B2545"/>
                </a:solidFill>
                <a:latin typeface="Calibri"/>
              </a:rPr>
              <a:t>Cybernet</a:t>
            </a:r>
            <a:r>
              <a:rPr sz="1450" b="0" i="0">
                <a:solidFill>
                  <a:srgbClr val="415C7A"/>
                </a:solidFill>
                <a:latin typeface="Calibri"/>
              </a:rPr>
              <a:t> are Pakistan's only licensed international gateway operators. Every other ISP buys connectivity from one of them — and since the gateway operators don't peer with each other either, traffic between two Pakistani networks can still be sent abroad and back. This is traffic </a:t>
            </a:r>
            <a:r>
              <a:rPr sz="1450" b="1" i="0">
                <a:solidFill>
                  <a:srgbClr val="0B2545"/>
                </a:solidFill>
                <a:latin typeface="Calibri"/>
              </a:rPr>
              <a:t>tromboning</a:t>
            </a:r>
            <a:r>
              <a:rPr sz="1450" b="0" i="0">
                <a:solidFill>
                  <a:srgbClr val="415C7A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415C7A"/>
                </a:solidFill>
                <a:latin typeface="Calibri"/>
              </a:rPr>
              <a:t>We ran RIPE Atlas traceroutes and pings from every connected Pakistani probe to a fixed, 100-site sample for one week to answer three questions: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3423818" cy="2331720"/>
          </a:xfrm>
          <a:prstGeom prst="roundRect">
            <a:avLst>
              <a:gd name="adj" fmla="val 5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840480"/>
            <a:ext cx="302148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74BA6"/>
                </a:solidFill>
                <a:latin typeface="Consolas"/>
              </a:rPr>
              <a:t>RQ1</a:t>
            </a:r>
          </a:p>
          <a:p>
            <a:pPr>
              <a:spcBef>
                <a:spcPts val="800"/>
              </a:spcBef>
            </a:pPr>
            <a:r>
              <a:rPr sz="1650" b="1" i="0">
                <a:solidFill>
                  <a:srgbClr val="0B2545"/>
                </a:solidFill>
                <a:latin typeface="Georgia"/>
              </a:rPr>
              <a:t>Extent &amp; attribution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 i="0">
                <a:solidFill>
                  <a:srgbClr val="415C7A"/>
                </a:solidFill>
                <a:latin typeface="Calibri"/>
              </a:rPr>
              <a:t>How much Pakistani traffic trombones through foreign networks, and which ISPs / transit paths are responsible?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3657600"/>
            <a:ext cx="3423818" cy="2331720"/>
          </a:xfrm>
          <a:prstGeom prst="roundRect">
            <a:avLst>
              <a:gd name="adj" fmla="val 5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5106" y="3840480"/>
            <a:ext cx="302148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74BA6"/>
                </a:solidFill>
                <a:latin typeface="Consolas"/>
              </a:rPr>
              <a:t>RQ2</a:t>
            </a:r>
          </a:p>
          <a:p>
            <a:pPr>
              <a:spcBef>
                <a:spcPts val="800"/>
              </a:spcBef>
            </a:pPr>
            <a:r>
              <a:rPr sz="1650" b="1" i="0">
                <a:solidFill>
                  <a:srgbClr val="0B2545"/>
                </a:solidFill>
                <a:latin typeface="Georgia"/>
              </a:rPr>
              <a:t>Cost &amp; stability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 i="0">
                <a:solidFill>
                  <a:srgbClr val="415C7A"/>
                </a:solidFill>
                <a:latin typeface="Calibri"/>
              </a:rPr>
              <a:t>What is the RTT cost of tromboning — and is the penalty stable, or does it vary by time of day / week?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3657600"/>
            <a:ext cx="3423818" cy="2331720"/>
          </a:xfrm>
          <a:prstGeom prst="roundRect">
            <a:avLst>
              <a:gd name="adj" fmla="val 5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3244" y="3840480"/>
            <a:ext cx="302148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174BA6"/>
                </a:solidFill>
                <a:latin typeface="Consolas"/>
              </a:rPr>
              <a:t>RQ3</a:t>
            </a:r>
          </a:p>
          <a:p>
            <a:pPr>
              <a:spcBef>
                <a:spcPts val="800"/>
              </a:spcBef>
            </a:pPr>
            <a:r>
              <a:rPr sz="1650" b="1" i="0">
                <a:solidFill>
                  <a:srgbClr val="0B2545"/>
                </a:solidFill>
                <a:latin typeface="Georgia"/>
              </a:rPr>
              <a:t>Does a local path exist?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 i="0">
                <a:solidFill>
                  <a:srgbClr val="415C7A"/>
                </a:solidFill>
                <a:latin typeface="Calibri"/>
              </a:rPr>
              <a:t>For sites that trombone, do routing verdicts flip between local and hairpinned — proving a domestic path exists?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03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Every connected probe, one frozen sample, seven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50">
                <a:solidFill>
                  <a:srgbClr val="8BA0B8"/>
                </a:solidFill>
                <a:latin typeface="Consolas"/>
              </a:rPr>
              <a:t>VANTAGE POINTS — 14 PROBES, 9 ISPs, 7 CITIES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48840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Cybernet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2148840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2148840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PTCL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5656" y="2148840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2148840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Nayatel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15184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15184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TES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2615184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05456" y="2615184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Transworld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05656" y="2615184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2615184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Nova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81528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81528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Orbit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95728" y="3081528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5456" y="3081528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Fasttel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05656" y="3081528"/>
            <a:ext cx="1627632" cy="384048"/>
          </a:xfrm>
          <a:prstGeom prst="roundRect">
            <a:avLst>
              <a:gd name="adj" fmla="val 18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4" y="3081528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50" b="1" i="0">
                <a:solidFill>
                  <a:srgbClr val="0B2545"/>
                </a:solidFill>
                <a:latin typeface="Consolas"/>
              </a:rPr>
              <a:t>Zcom  </a:t>
            </a:r>
            <a:r>
              <a:rPr sz="1150" b="1" i="0">
                <a:solidFill>
                  <a:srgbClr val="174BA6"/>
                </a:solidFill>
                <a:latin typeface="Consolas"/>
              </a:rPr>
              <a:t>×1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415C7A"/>
                </a:solidFill>
                <a:latin typeface="Calibri"/>
              </a:rPr>
              <a:t>17 probes scheduled, 16 returned data; 2 more excluded (mislabelled ASN, 90% packet loss) — leaving the 14-probe analysis roster above. Both gateway-licensed operators plus 7 downstream ISPs, across Lahore, Karachi, Islamabad, Rawalpindi, Faisalabad, Mianwali and Haripur.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18288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50">
                <a:solidFill>
                  <a:srgbClr val="8BA0B8"/>
                </a:solidFill>
                <a:latin typeface="Consolas"/>
              </a:rPr>
              <a:t>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148840"/>
            <a:ext cx="5394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TCP/80 Paris traceroute</a:t>
            </a:r>
            <a:r>
              <a:rPr sz="1250" b="0" i="0">
                <a:solidFill>
                  <a:srgbClr val="415C7A"/>
                </a:solidFill>
                <a:latin typeface="Calibri"/>
              </a:rPr>
              <a:t> — hourly, path only (ICMP is heavily filtered)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ICMP ping ×3</a:t>
            </a:r>
            <a:r>
              <a:rPr sz="1250" b="0" i="0">
                <a:solidFill>
                  <a:srgbClr val="415C7A"/>
                </a:solidFill>
                <a:latin typeface="Calibri"/>
              </a:rPr>
              <a:t> — every 30 min, min-of-N RTT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 i="0">
                <a:solidFill>
                  <a:srgbClr val="0B2545"/>
                </a:solidFill>
                <a:latin typeface="Calibri"/>
              </a:rPr>
              <a:t>RTT-physics detector</a:t>
            </a:r>
            <a:r>
              <a:rPr sz="1250" b="0" i="0">
                <a:solidFill>
                  <a:srgbClr val="415C7A"/>
                </a:solidFill>
                <a:latin typeface="Calibri"/>
              </a:rPr>
              <a:t> — a reply faster than light-in-fibre allows proves the claimed location wrong (§3.1)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79476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30" b="0" i="0" spc="30">
                <a:solidFill>
                  <a:srgbClr val="8BA0B8"/>
                </a:solidFill>
                <a:latin typeface="Consolas"/>
              </a:rPr>
              <a:t>100 SITES — SAMPLED 40/40/20, PHYSICS-CORRECTED TO 37/40/23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4114800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Pakistan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72984" y="4114800"/>
            <a:ext cx="319125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72984" y="4114800"/>
            <a:ext cx="2951911" cy="237744"/>
          </a:xfrm>
          <a:prstGeom prst="roundRect">
            <a:avLst>
              <a:gd name="adj" fmla="val 50000"/>
            </a:avLst>
          </a:prstGeom>
          <a:solidFill>
            <a:srgbClr val="19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92256" y="4114800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4443984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CDN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72984" y="4443984"/>
            <a:ext cx="319125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72984" y="4443984"/>
            <a:ext cx="3191256" cy="237744"/>
          </a:xfrm>
          <a:prstGeom prst="roundRect">
            <a:avLst>
              <a:gd name="adj" fmla="val 50000"/>
            </a:avLst>
          </a:prstGeom>
          <a:solidFill>
            <a:srgbClr val="0B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92256" y="4443984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773168"/>
            <a:ext cx="14173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Abroad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72984" y="4773168"/>
            <a:ext cx="319125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72984" y="4773168"/>
            <a:ext cx="1834972" cy="237744"/>
          </a:xfrm>
          <a:prstGeom prst="roundRect">
            <a:avLst>
              <a:gd name="adj" fmla="val 50000"/>
            </a:avLst>
          </a:prstGeom>
          <a:solidFill>
            <a:srgbClr val="5B7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92256" y="4773168"/>
            <a:ext cx="457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23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532120"/>
            <a:ext cx="350916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5641848"/>
            <a:ext cx="317997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B2545"/>
                </a:solidFill>
                <a:latin typeface="Consolas"/>
              </a:rPr>
              <a:t>222,944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traceroute rows collected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1266" y="5532120"/>
            <a:ext cx="350916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5858" y="5641848"/>
            <a:ext cx="317997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B2545"/>
                </a:solidFill>
                <a:latin typeface="Consolas"/>
              </a:rPr>
              <a:t>445,749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ping rows collected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96732" y="5532120"/>
            <a:ext cx="350916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61324" y="5641848"/>
            <a:ext cx="317997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74BA6"/>
                </a:solidFill>
                <a:latin typeface="Consolas"/>
              </a:rPr>
              <a:t>204,384 / 313,276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analysed after cleaning (14 probes)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6675120" y="1600200"/>
            <a:ext cx="4846320" cy="32384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04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RESULT — THE LATENCY RATIO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700" b="1" i="0">
                <a:solidFill>
                  <a:srgbClr val="0B2545"/>
                </a:solidFill>
                <a:latin typeface="Georgia"/>
              </a:rPr>
              <a:t>International routing is near-perfect.</a:t>
            </a:r>
          </a:p>
          <a:p>
            <a:pPr>
              <a:lnSpc>
                <a:spcPct val="102000"/>
              </a:lnSpc>
            </a:pPr>
            <a:r>
              <a:rPr sz="2700" b="1" i="0">
                <a:solidFill>
                  <a:srgbClr val="0B2545"/>
                </a:solidFill>
                <a:latin typeface="Georgia"/>
              </a:rPr>
              <a:t>Domestic isn't.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04 / 08</a:t>
            </a:r>
          </a:p>
        </p:txBody>
      </p:sp>
      <p:pic>
        <p:nvPicPr>
          <p:cNvPr id="7" name="Picture 6" descr="ratio_cdf_al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673352"/>
            <a:ext cx="4700016" cy="30921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48934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30">
                <a:solidFill>
                  <a:srgbClr val="8BA0B8"/>
                </a:solidFill>
                <a:latin typeface="Consolas"/>
              </a:rPr>
              <a:t>LATENCY RATIO = MEASURED RTT ÷ PHYSICS MINIMUM, CDF BY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5577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415C7A"/>
                </a:solidFill>
                <a:latin typeface="Calibri"/>
              </a:rPr>
              <a:t>Every RTT normalised by the speed-of-light minimum for that distance. 1× is physically optimal.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2715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852928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B2957"/>
                </a:solidFill>
                <a:latin typeface="Consolas"/>
              </a:rPr>
              <a:t>2.88×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Pakistan median — 24% of pairs exceed 10×, reaching 31×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743200"/>
            <a:ext cx="27157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2852928"/>
            <a:ext cx="2386584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2E6FE0"/>
                </a:solidFill>
                <a:latin typeface="Consolas"/>
              </a:rPr>
              <a:t>2.46×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Abroad median — none beyond ~7×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6908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178808"/>
            <a:ext cx="524865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174BA6"/>
                </a:solidFill>
                <a:latin typeface="Consolas"/>
              </a:rPr>
              <a:t>27% / 23%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CDN is bimodal: ≪1.5× for the best-peered ISP, &gt;40× for the worst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66360"/>
            <a:ext cx="5577840" cy="118872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5166360"/>
            <a:ext cx="54864" cy="118872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294376"/>
            <a:ext cx="51206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74BA6"/>
                </a:solidFill>
                <a:latin typeface="Consolas"/>
              </a:rPr>
              <a:t>IT ISN'T DISTANCE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50" b="0" i="0">
                <a:solidFill>
                  <a:srgbClr val="415C7A"/>
                </a:solidFill>
                <a:latin typeface="Calibri"/>
              </a:rPr>
              <a:t>A class-wise regression of RTT on geodesic distance: Abroad R²=0.55 (latency tracks how far the packet travels); Pakistan R²=0.04 (distance explains almost nothing). Domestic delay is a routing choice, not geography.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05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RESULT — WHO TROMBONED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15.1% of Pakistani traffic leaves Pakistan</a:t>
            </a:r>
          </a:p>
          <a:p>
            <a:pPr>
              <a:lnSpc>
                <a:spcPct val="102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to reach a Pakistani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 spc="40">
                <a:solidFill>
                  <a:srgbClr val="8BA0B8"/>
                </a:solidFill>
                <a:latin typeface="Consolas"/>
              </a:rPr>
              <a:t>TROMBONE RATE BY SOURCE ISP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Transworld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2" y="2487168"/>
            <a:ext cx="332841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6352" y="2487168"/>
            <a:ext cx="332841" cy="237744"/>
          </a:xfrm>
          <a:prstGeom prst="roundRect">
            <a:avLst>
              <a:gd name="adj" fmla="val 50000"/>
            </a:avLst>
          </a:prstGeom>
          <a:solidFill>
            <a:srgbClr val="B6C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48716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3.2%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Nayatel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2852928"/>
            <a:ext cx="332841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6352" y="2852928"/>
            <a:ext cx="1008926" cy="237744"/>
          </a:xfrm>
          <a:prstGeom prst="roundRect">
            <a:avLst>
              <a:gd name="adj" fmla="val 50000"/>
            </a:avLst>
          </a:prstGeom>
          <a:solidFill>
            <a:srgbClr val="8FA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8529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9.7%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18688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TES · Nova · Z-Com · Orbit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3218688"/>
            <a:ext cx="332841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6352" y="3218688"/>
            <a:ext cx="1196149" cy="237744"/>
          </a:xfrm>
          <a:prstGeom prst="roundRect">
            <a:avLst>
              <a:gd name="adj" fmla="val 50000"/>
            </a:avLst>
          </a:prstGeom>
          <a:solidFill>
            <a:srgbClr val="849C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321868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10–13%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84448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Cybernet · Fasttel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6352" y="3584448"/>
            <a:ext cx="332841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16352" y="3584448"/>
            <a:ext cx="2444305" cy="237744"/>
          </a:xfrm>
          <a:prstGeom prst="roundRect">
            <a:avLst>
              <a:gd name="adj" fmla="val 50000"/>
            </a:avLst>
          </a:prstGeom>
          <a:solidFill>
            <a:srgbClr val="3D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358444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22–25%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50208"/>
            <a:ext cx="19659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415C7A"/>
                </a:solidFill>
                <a:latin typeface="Calibri"/>
              </a:rPr>
              <a:t>PTCL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16352" y="3950208"/>
            <a:ext cx="3328416" cy="237744"/>
          </a:xfrm>
          <a:prstGeom prst="roundRect">
            <a:avLst>
              <a:gd name="adj" fmla="val 50000"/>
            </a:avLst>
          </a:prstGeom>
          <a:solidFill>
            <a:srgbClr val="EC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16352" y="3950208"/>
            <a:ext cx="3182797" cy="237744"/>
          </a:xfrm>
          <a:prstGeom prst="roundRect">
            <a:avLst>
              <a:gd name="adj" fmla="val 50000"/>
            </a:avLst>
          </a:prstGeom>
          <a:solidFill>
            <a:srgbClr val="13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395020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0B2545"/>
                </a:solidFill>
                <a:latin typeface="Consolas"/>
              </a:rPr>
              <a:t>30.6%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434840"/>
            <a:ext cx="6400800" cy="105156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434840"/>
            <a:ext cx="54864" cy="105156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562856"/>
            <a:ext cx="59436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74BA6"/>
                </a:solidFill>
                <a:latin typeface="Consolas"/>
              </a:rPr>
              <a:t>SAME ISP, DIFFERENT CITY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50" b="0" i="0">
                <a:solidFill>
                  <a:srgbClr val="415C7A"/>
                </a:solidFill>
                <a:latin typeface="Calibri"/>
              </a:rPr>
              <a:t>PTCL: 46% (Mianwali) vs 27% (Karachi). Cybernet: 34% (Haripur) vs 11% (Karachi) — customers of the same operator get materially different routing by city.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2148840"/>
            <a:ext cx="4099255" cy="141732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2" y="2258568"/>
            <a:ext cx="377007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B2957"/>
                </a:solidFill>
                <a:latin typeface="Consolas"/>
              </a:rPr>
              <a:t>85.6%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Financial Services trombone — state agricultural bank alone: 86%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703320"/>
            <a:ext cx="4099255" cy="141732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71232" y="3813048"/>
            <a:ext cx="3770071" cy="1197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74BA6"/>
                </a:solidFill>
                <a:latin typeface="Consolas"/>
              </a:rPr>
              <a:t>27.6%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Government Services — driven almost entirely by one federal housing site (89%)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5257800"/>
            <a:ext cx="4099255" cy="114300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1232" y="5367528"/>
            <a:ext cx="3770071" cy="923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2E6FE0"/>
                </a:solidFill>
                <a:latin typeface="Consolas"/>
              </a:rPr>
              <a:t>&lt;2%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Communications &amp; Healthcare — sectors that run their own networks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06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RESULT — THE EXCHANGE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300" b="1" i="0">
                <a:solidFill>
                  <a:srgbClr val="0B2545"/>
                </a:solidFill>
                <a:latin typeface="Georgia"/>
              </a:rPr>
              <a:t>Traces that crossed PKIX's peering fabric, all week: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8229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0" b="1" i="0">
                <a:solidFill>
                  <a:srgbClr val="0B2957"/>
                </a:solidFill>
                <a:latin typeface="Consola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8BA0B8"/>
                </a:solidFill>
                <a:latin typeface="Consolas"/>
              </a:rPr>
              <a:t>out of 222,944 traceroutes  ·  PKIX Lahore + PIE Karachi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9875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11,756 traces</a:t>
            </a:r>
            <a:r>
              <a:rPr sz="1400" b="0" i="0">
                <a:solidFill>
                  <a:srgbClr val="415C7A"/>
                </a:solidFill>
                <a:latin typeface="Calibri"/>
              </a:rPr>
              <a:t> to Pakistani-hosted sites detoured through Singapore or the US and back instead — traffic the exchange exists to serve.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50916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458968"/>
            <a:ext cx="3179978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74BA6"/>
                </a:solidFill>
                <a:latin typeface="Consolas"/>
              </a:rPr>
              <a:t>TWA 2,773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hairpins carried (of resolvable hand-offs)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1266" y="5349240"/>
            <a:ext cx="350916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5458968"/>
            <a:ext cx="3179978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74BA6"/>
                </a:solidFill>
                <a:latin typeface="Consolas"/>
              </a:rPr>
              <a:t>PTCL 1,721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hairpins carried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6732" y="5349240"/>
            <a:ext cx="350916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1324" y="5458968"/>
            <a:ext cx="3179978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74BA6"/>
                </a:solidFill>
                <a:latin typeface="Consolas"/>
              </a:rPr>
              <a:t>Singapore 3,740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of resolvable exits (US 1,750, HK 167)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07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CASE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200" b="1" i="0">
                <a:solidFill>
                  <a:srgbClr val="0B2545"/>
                </a:solidFill>
                <a:latin typeface="Georgia"/>
              </a:rPr>
              <a:t>EFU Life: one domestic door — most ISPs reach it by leaving the country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415C7A"/>
                </a:solidFill>
                <a:latin typeface="Calibri"/>
              </a:rPr>
              <a:t>efulife.com — its own ASN (AS141008), Karachi. Every ISP's traffic enters through the same Cybernet edge; the only difference is how far each one travels to get there.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286000"/>
            <a:ext cx="140817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Cybernet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0B2545"/>
                </a:solidFill>
                <a:latin typeface="Calibri"/>
              </a:rPr>
              <a:t>(2 vantages)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38328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383280"/>
            <a:ext cx="140817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PTCL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805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480560"/>
            <a:ext cx="140817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Nova · Z-Com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0B2545"/>
                </a:solidFill>
                <a:latin typeface="Calibri"/>
              </a:rPr>
              <a:t>· others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383280"/>
            <a:ext cx="1737360" cy="68580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3383280"/>
            <a:ext cx="15910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GSL / Omantel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0B2545"/>
                </a:solidFill>
                <a:latin typeface="Calibri"/>
              </a:rPr>
              <a:t>(Oman)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480560"/>
            <a:ext cx="1737360" cy="68580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4480560"/>
            <a:ext cx="15910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Transworld →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0B2545"/>
                </a:solidFill>
                <a:latin typeface="Calibri"/>
              </a:rPr>
              <a:t>Equinix Singapore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338328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3383280"/>
            <a:ext cx="140817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74BA6"/>
                </a:solidFill>
                <a:latin typeface="Calibri"/>
              </a:rPr>
              <a:t>Cybernet edge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174BA6"/>
                </a:solidFill>
                <a:latin typeface="Calibri"/>
              </a:rPr>
              <a:t>AS9541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38328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0B2957"/>
          </a:solidFill>
          <a:ln w="12700">
            <a:solidFill>
              <a:srgbClr val="0B29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383280"/>
            <a:ext cx="168249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EFU Life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AS141008 · Karachi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40280" y="2628900.0"/>
            <a:ext cx="2834640" cy="1097280.0"/>
          </a:xfrm>
          <a:prstGeom prst="line">
            <a:avLst/>
          </a:prstGeom>
          <a:ln w="28575">
            <a:solidFill>
              <a:srgbClr val="0B29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3726180.0"/>
            <a:ext cx="502920" cy="0.0"/>
          </a:xfrm>
          <a:prstGeom prst="line">
            <a:avLst/>
          </a:prstGeom>
          <a:ln w="19050">
            <a:solidFill>
              <a:srgbClr val="8FB8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80560" y="3726180.0"/>
            <a:ext cx="594360" cy="0.0"/>
          </a:xfrm>
          <a:prstGeom prst="line">
            <a:avLst/>
          </a:prstGeom>
          <a:ln w="22225">
            <a:solidFill>
              <a:srgbClr val="174B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40280" y="4823460.0"/>
            <a:ext cx="502920" cy="0.0"/>
          </a:xfrm>
          <a:prstGeom prst="line">
            <a:avLst/>
          </a:prstGeom>
          <a:ln w="19050">
            <a:solidFill>
              <a:srgbClr val="8FB8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80560" y="3726180.0"/>
            <a:ext cx="594360" cy="1097280.0"/>
          </a:xfrm>
          <a:prstGeom prst="line">
            <a:avLst/>
          </a:prstGeom>
          <a:ln w="22225">
            <a:solidFill>
              <a:srgbClr val="174B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29400" y="3726180.0"/>
            <a:ext cx="685800" cy="0.0"/>
          </a:xfrm>
          <a:prstGeom prst="line">
            <a:avLst/>
          </a:prstGeom>
          <a:ln w="28575">
            <a:solidFill>
              <a:srgbClr val="0B29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3008376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B2957"/>
                </a:solidFill>
                <a:latin typeface="Consolas"/>
              </a:rPr>
              <a:t>Cybernet, direct  →  5.4 ms · 1.0×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05656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74BA6"/>
                </a:solidFill>
                <a:latin typeface="Consolas"/>
              </a:rPr>
              <a:t>PTCL via Oman (GSL/Omantel)  →  113.5 ms · 21×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02936"/>
            <a:ext cx="8686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174BA6"/>
                </a:solidFill>
                <a:latin typeface="Consolas"/>
              </a:rPr>
              <a:t>Nova/Z-Com via Transworld → Singapore  →  100–177 ms · 18–33×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806440"/>
            <a:ext cx="10820095" cy="77724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806440"/>
            <a:ext cx="54864" cy="777240"/>
          </a:xfrm>
          <a:prstGeom prst="rect">
            <a:avLst/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" y="5934456"/>
            <a:ext cx="10362895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174BA6"/>
                </a:solidFill>
                <a:latin typeface="Consolas"/>
              </a:rPr>
              <a:t>NOT AN ISOLATED CASE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50" b="0" i="0">
                <a:solidFill>
                  <a:srgbClr val="415C7A"/>
                </a:solidFill>
                <a:latin typeface="Calibri"/>
              </a:rPr>
              <a:t>This is the tromboning thesis in one destination: no domestic peering path exists into Cybernet's network, so every other ISP's fallback is to leave Pakistan and re-enter at the same edge. Pattern-wide, 83% of all probe–site pairs that ever hairpin are also served domestically elsewhere in the 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685800" y="2651760"/>
            <a:ext cx="5577840" cy="363557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00">
                <a:solidFill>
                  <a:srgbClr val="8BA0B8"/>
                </a:solidFill>
                <a:latin typeface="Consolas"/>
              </a:rPr>
              <a:t>08  </a:t>
            </a:r>
            <a:r>
              <a:rPr sz="1200" b="0" i="0" spc="100">
                <a:solidFill>
                  <a:srgbClr val="2E6FE0"/>
                </a:solidFill>
                <a:latin typeface="Consolas"/>
              </a:rPr>
              <a:t>RESULT — THE CDN LOTTERY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500" b="1" i="0">
                <a:solidFill>
                  <a:srgbClr val="0B2545"/>
                </a:solidFill>
                <a:latin typeface="Georgia"/>
              </a:rPr>
              <a:t>Same website, same city — up to 12.7× slower</a:t>
            </a:r>
          </a:p>
          <a:p>
            <a:pPr>
              <a:lnSpc>
                <a:spcPct val="102000"/>
              </a:lnSpc>
            </a:pPr>
            <a:r>
              <a:rPr sz="2500" b="1" i="0">
                <a:solidFill>
                  <a:srgbClr val="0B2545"/>
                </a:solidFill>
                <a:latin typeface="Georgia"/>
              </a:rPr>
              <a:t>depending on your ISP.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A0B8"/>
                </a:solidFill>
                <a:latin typeface="Consolas"/>
              </a:rPr>
              <a:t>08 / 08</a:t>
            </a:r>
          </a:p>
        </p:txBody>
      </p:sp>
      <p:pic>
        <p:nvPicPr>
          <p:cNvPr id="7" name="Picture 6" descr="cdn_by_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24912"/>
            <a:ext cx="5431536" cy="3489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342201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30">
                <a:solidFill>
                  <a:srgbClr val="8BA0B8"/>
                </a:solidFill>
                <a:latin typeface="Consolas"/>
              </a:rPr>
              <a:t>CDN ACCESS BY ISP: LOCAL / REGIONAL / DISTANT SHARE OF THE SERVING POP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651760"/>
            <a:ext cx="483077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761488"/>
            <a:ext cx="450159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0B2957"/>
                </a:solidFill>
                <a:latin typeface="Consolas"/>
              </a:rPr>
              <a:t>85%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best-peered ISP reaches CDN content locally — 2.7 ms median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4069080"/>
            <a:ext cx="4830775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4178808"/>
            <a:ext cx="450159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400" b="1" i="0">
                <a:solidFill>
                  <a:srgbClr val="174BA6"/>
                </a:solidFill>
                <a:latin typeface="Consolas"/>
              </a:rPr>
              <a:t>0%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the largest operator reaches essentially none locally — 91–130 ms median across the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5486400"/>
            <a:ext cx="4830775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5596128"/>
            <a:ext cx="4501591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2E6FE0"/>
                </a:solidFill>
                <a:latin typeface="Consolas"/>
              </a:rPr>
              <a:t>12.7× – &gt;40×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 i="0">
                <a:solidFill>
                  <a:srgbClr val="415C7A"/>
                </a:solidFill>
                <a:latin typeface="Calibri"/>
              </a:rPr>
              <a:t>median–worst-quartile cost of not peering, same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