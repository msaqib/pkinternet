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spc="100">
                <a:solidFill>
                  <a:srgbClr val="8BA0B8"/>
                </a:solidFill>
                <a:latin typeface="Consolas"/>
              </a:rPr>
              <a:t>RQ3  </a:t>
            </a:r>
            <a:r>
              <a:rPr sz="1200" b="0" spc="100">
                <a:solidFill>
                  <a:srgbClr val="2E6FE0"/>
                </a:solidFill>
                <a:latin typeface="Consolas"/>
              </a:rPr>
              <a:t>DOES A LOCAL PATH EXIST?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85800" y="795528"/>
            <a:ext cx="256032" cy="0"/>
          </a:xfrm>
          <a:prstGeom prst="line">
            <a:avLst/>
          </a:prstGeom>
          <a:ln w="19050">
            <a:solidFill>
              <a:srgbClr val="2E6F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85800" y="914400"/>
            <a:ext cx="108200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2800" b="1">
                <a:solidFill>
                  <a:srgbClr val="0B2545"/>
                </a:solidFill>
                <a:latin typeface="Georgia"/>
              </a:rPr>
              <a:t>A routing choice, not a capacity limit.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415C7A"/>
                </a:solidFill>
                <a:latin typeface="Calibri"/>
              </a:rPr>
              <a:t>Of 444 probe–site pairs on Pakistani-hosted sites with ≥50 rounds each, over the full week: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350916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304288"/>
            <a:ext cx="3179978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2E6FE0"/>
                </a:solidFill>
                <a:latin typeface="Consolas"/>
              </a:rPr>
              <a:t>48%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415C7A"/>
                </a:solidFill>
                <a:latin typeface="Calibri"/>
              </a:rPr>
              <a:t>persistently local — 211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1266" y="2194560"/>
            <a:ext cx="350916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5858" y="2304288"/>
            <a:ext cx="3179978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0B2957"/>
                </a:solidFill>
                <a:latin typeface="Consolas"/>
              </a:rPr>
              <a:t>43%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415C7A"/>
                </a:solidFill>
                <a:latin typeface="Calibri"/>
              </a:rPr>
              <a:t>flap — 193 pairs switch between local and hairpinned within the week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6732" y="2194560"/>
            <a:ext cx="350916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1324" y="2304288"/>
            <a:ext cx="3179978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74BA6"/>
                </a:solidFill>
                <a:latin typeface="Consolas"/>
              </a:rPr>
              <a:t>9%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415C7A"/>
                </a:solidFill>
                <a:latin typeface="Calibri"/>
              </a:rPr>
              <a:t>persistently hairpinned — 40 pairs, likely no usable local 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11880"/>
            <a:ext cx="10820095" cy="1051560"/>
          </a:xfrm>
          <a:prstGeom prst="roundRect">
            <a:avLst>
              <a:gd name="adj" fmla="val 4000"/>
            </a:avLst>
          </a:prstGeom>
          <a:solidFill>
            <a:srgbClr val="F6F9FD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611880"/>
            <a:ext cx="54864" cy="1051560"/>
          </a:xfrm>
          <a:prstGeom prst="rect">
            <a:avLst/>
          </a:prstGeom>
          <a:solidFill>
            <a:srgbClr val="0B29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739896"/>
            <a:ext cx="10362895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>
                <a:solidFill>
                  <a:srgbClr val="0B2957"/>
                </a:solidFill>
                <a:latin typeface="Consolas"/>
              </a:rPr>
              <a:t>THE HEADLINE NUMBER</a:t>
            </a:r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sz="1250" b="0">
                <a:solidFill>
                  <a:srgbClr val="415C7A"/>
                </a:solidFill>
                <a:latin typeface="Calibri"/>
              </a:rPr>
              <a:t>83% of all probe–site pairs that ever trombone are also served over a domestic route elsewhere in the same week — for the overwhelming majority of hairpinning traffic, the international detour is a choice, not a necessity.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846320"/>
            <a:ext cx="350916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956048"/>
            <a:ext cx="3179978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74BA6"/>
                </a:solidFill>
                <a:latin typeface="Consolas"/>
              </a:rPr>
              <a:t>49%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415C7A"/>
                </a:solidFill>
                <a:latin typeface="Calibri"/>
              </a:rPr>
              <a:t>of all pairs genuinely re-route at the AS level at least once in the week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1266" y="4846320"/>
            <a:ext cx="350916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5858" y="4956048"/>
            <a:ext cx="3179978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74BA6"/>
                </a:solidFill>
                <a:latin typeface="Consolas"/>
              </a:rPr>
              <a:t>×23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415C7A"/>
                </a:solidFill>
                <a:latin typeface="Calibri"/>
              </a:rPr>
              <a:t>same destination handed to both PTCL and Transworld at different times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6732" y="4846320"/>
            <a:ext cx="3509162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1324" y="4956048"/>
            <a:ext cx="3179978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174BA6"/>
                </a:solidFill>
                <a:latin typeface="Consolas"/>
              </a:rPr>
              <a:t>78%</a:t>
            </a: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sz="1150" b="0">
                <a:solidFill>
                  <a:srgbClr val="415C7A"/>
                </a:solidFill>
                <a:latin typeface="Calibri"/>
              </a:rPr>
              <a:t>of path divergence happens at hops 3–5 — the domestic pre-gateway layer an IXP replaces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172200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B2545"/>
                </a:solidFill>
                <a:latin typeface="Calibri"/>
              </a:rPr>
              <a:t>35 of 37</a:t>
            </a:r>
            <a:r>
              <a:rPr sz="1200" b="0">
                <a:solidFill>
                  <a:srgbClr val="415C7A"/>
                </a:solidFill>
                <a:latin typeface="Calibri"/>
              </a:rPr>
              <a:t> Pakistani-hosted sites flap; only 2 are hairpinned on &gt;90% of rounds. Detours toggle on and off (96% of changing pairs return to a previously seen route) rather than migrating — this is intermittent choice, not a broken route.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