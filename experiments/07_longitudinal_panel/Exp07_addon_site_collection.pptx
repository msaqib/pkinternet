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spc="100">
                <a:solidFill>
                  <a:srgbClr val="8BA0B8"/>
                </a:solidFill>
                <a:latin typeface="Consolas"/>
              </a:rPr>
              <a:t>METHODOLOGY  </a:t>
            </a:r>
            <a:r>
              <a:rPr sz="1200" b="0" spc="100">
                <a:solidFill>
                  <a:srgbClr val="2E6FE0"/>
                </a:solidFill>
                <a:latin typeface="Consolas"/>
              </a:rPr>
              <a:t>SITE SELECTION — §3.1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0B2545"/>
                </a:solidFill>
                <a:latin typeface="Georgia"/>
              </a:rPr>
              <a:t>From 1,814 candidate sites to a reproducible 100-site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18562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B2545"/>
                </a:solidFill>
                <a:latin typeface="Calibri"/>
              </a:rPr>
              <a:t>Candidate pool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1,814 sites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78308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1783080"/>
            <a:ext cx="18562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B2545"/>
                </a:solidFill>
                <a:latin typeface="Calibri"/>
              </a:rPr>
              <a:t>Hosting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classification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(Team Cymru ASN)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178308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783080"/>
            <a:ext cx="18562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B2545"/>
                </a:solidFill>
                <a:latin typeface="Calibri"/>
              </a:rPr>
              <a:t>CISA sector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tagging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8 sectors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4" y="178308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1783080"/>
            <a:ext cx="18562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B2545"/>
                </a:solidFill>
                <a:latin typeface="Calibri"/>
              </a:rPr>
              <a:t>Stratified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sampling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0B2545"/>
                </a:solidFill>
                <a:latin typeface="Calibri"/>
              </a:rPr>
              <a:t>seed 42 · 100 sites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54312" y="178308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0B2957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9176" y="1783080"/>
            <a:ext cx="18562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Physics-arbiter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correction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final: 37/40/23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286000"/>
            <a:ext cx="201168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18888" y="2286000"/>
            <a:ext cx="201168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86016" y="2286000"/>
            <a:ext cx="201168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53144" y="2286000"/>
            <a:ext cx="201168" cy="0"/>
          </a:xfrm>
          <a:prstGeom prst="line">
            <a:avLst/>
          </a:prstGeom>
          <a:ln w="22225">
            <a:solidFill>
              <a:srgbClr val="2E6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06324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spc="40">
                <a:solidFill>
                  <a:srgbClr val="8BA0B8"/>
                </a:solidFill>
                <a:latin typeface="Consolas"/>
              </a:rPr>
              <a:t>CANDIDATE POOL — FIVE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64992"/>
            <a:ext cx="2017715" cy="56692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64992"/>
            <a:ext cx="18348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onsolas"/>
              </a:rPr>
              <a:t>Tranco top-1M  </a:t>
            </a:r>
            <a:r>
              <a:rPr sz="1000" b="1">
                <a:solidFill>
                  <a:srgbClr val="174BA6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639312"/>
            <a:ext cx="18714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415C7A"/>
                </a:solidFill>
                <a:latin typeface="Calibri"/>
              </a:rPr>
              <a:t>1,708 sites, filtered to .pk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6395" y="3364992"/>
            <a:ext cx="2017715" cy="56692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7835" y="3364992"/>
            <a:ext cx="18348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onsolas"/>
              </a:rPr>
              <a:t>PTA ISP list  </a:t>
            </a:r>
            <a:r>
              <a:rPr sz="1000" b="1">
                <a:solidFill>
                  <a:srgbClr val="174BA6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9547" y="3639312"/>
            <a:ext cx="18714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415C7A"/>
                </a:solidFill>
                <a:latin typeface="Calibri"/>
              </a:rPr>
              <a:t>telecom/ISP sector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6990" y="3364992"/>
            <a:ext cx="2017715" cy="56692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8430" y="3364992"/>
            <a:ext cx="18348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onsolas"/>
              </a:rPr>
              <a:t>Energy regulator  </a:t>
            </a:r>
            <a:r>
              <a:rPr sz="1000" b="1">
                <a:solidFill>
                  <a:srgbClr val="174BA6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0142" y="3639312"/>
            <a:ext cx="18714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415C7A"/>
                </a:solidFill>
                <a:latin typeface="Calibri"/>
              </a:rPr>
              <a:t>power distribution cos.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7585" y="3364992"/>
            <a:ext cx="2017715" cy="56692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025" y="3364992"/>
            <a:ext cx="18348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onsolas"/>
              </a:rPr>
              <a:t>Manual  </a:t>
            </a:r>
            <a:r>
              <a:rPr sz="1000" b="1">
                <a:solidFill>
                  <a:srgbClr val="174BA6"/>
                </a:solidFill>
                <a:latin typeface="Consola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737" y="3639312"/>
            <a:ext cx="18714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415C7A"/>
                </a:solidFill>
                <a:latin typeface="Calibri"/>
              </a:rPr>
              <a:t>airlines, rail, bus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88180" y="3364992"/>
            <a:ext cx="2017715" cy="56692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79620" y="3364992"/>
            <a:ext cx="18348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onsolas"/>
              </a:rPr>
              <a:t>Semrush  </a:t>
            </a:r>
            <a:r>
              <a:rPr sz="1000" b="1">
                <a:solidFill>
                  <a:srgbClr val="174BA6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1332" y="3639312"/>
            <a:ext cx="18714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415C7A"/>
                </a:solidFill>
                <a:latin typeface="Calibri"/>
              </a:rPr>
              <a:t>top-100 per CISA sector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251960"/>
            <a:ext cx="5257800" cy="123444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251960"/>
            <a:ext cx="54864" cy="123444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325112"/>
            <a:ext cx="489204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174BA6"/>
                </a:solidFill>
                <a:latin typeface="Consolas"/>
              </a:rPr>
              <a:t>HOW THE 100 WERE CHOSEN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100" b="0">
                <a:solidFill>
                  <a:srgbClr val="415C7A"/>
                </a:solidFill>
                <a:latin typeface="Calibri"/>
              </a:rPr>
              <a:t>Proportional by CISA sector (matching the real .pk web's sector mix), but a fixed 2:2:1 Pakistani:CDN:Abroad split within each sector — small sectors get a floor of 3 sites (1 per hosting class) so every class is estimable even in tiny sectors.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251960"/>
            <a:ext cx="5287975" cy="123444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251960"/>
            <a:ext cx="54864" cy="123444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4325112"/>
            <a:ext cx="4922215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2E6FE0"/>
                </a:solidFill>
                <a:latin typeface="Consolas"/>
              </a:rPr>
              <a:t>THE PHYSICS CHECK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100" b="0">
                <a:solidFill>
                  <a:srgbClr val="415C7A"/>
                </a:solidFill>
                <a:latin typeface="Calibri"/>
              </a:rPr>
              <a:t>The initial 40/40/20 design split is corrected after measurement: 3 CDN sites' registered cities are fixed by multilateration, and 3 “Pakistani” sites (RTT physically impossible from every probe) move to Abroad — final: 37 Pakistan / 40 CDN / 23 Abroad.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71500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Classification isn't permanent, either — </a:t>
            </a:r>
            <a:r>
              <a:rPr sz="1100" b="0">
                <a:solidFill>
                  <a:srgbClr val="415C7A"/>
                </a:solidFill>
                <a:latin typeface="Calibri"/>
              </a:rPr>
              <a:t>two sites in this sample (youth.cn, toptop.net) were genuinely Pakistan-hosted (S.B Link Network, AS134489) when the pool was built, then moved to a Canada-hosted network before the panel measured them days later. The physics-arbiter step exists because DNS can move faster than a “frozen” sample.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