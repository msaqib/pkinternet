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spc="100">
                <a:solidFill>
                  <a:srgbClr val="8BA0B8"/>
                </a:solidFill>
                <a:latin typeface="Consolas"/>
              </a:rPr>
              <a:t>CASE STUDY  </a:t>
            </a:r>
            <a:r>
              <a:rPr sz="1200" b="0" spc="100">
                <a:solidFill>
                  <a:srgbClr val="2E6FE0"/>
                </a:solidFill>
                <a:latin typeface="Consolas"/>
              </a:rPr>
              <a:t>INTERESTING_ROUTES_EDA.MD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795528"/>
            <a:ext cx="256032" cy="0"/>
          </a:xfrm>
          <a:prstGeom prst="line">
            <a:avLst/>
          </a:prstGeom>
          <a:ln w="19050">
            <a:solidFill>
              <a:srgbClr val="2E6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914400"/>
            <a:ext cx="108200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200" b="1">
                <a:solidFill>
                  <a:srgbClr val="0B2545"/>
                </a:solidFill>
                <a:latin typeface="Georgia"/>
              </a:rPr>
              <a:t>networld.pk: Pakistan → Singapore → France → Italy → Pakistan,
to reach a Pakistan-hosted site.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820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500"/>
              </a:spcAft>
            </a:pPr>
            <a:r>
              <a:rPr sz="1250" b="0">
                <a:solidFill>
                  <a:srgbClr val="415C7A"/>
                </a:solidFill>
                <a:latin typeface="Calibri"/>
              </a:rPr>
              <a:t>Hosted by Fariya Networks, a real Pakistani ISP, in Karachi. The widest geographic swing found in the panel — four countries, one destination that was never more than a few hundred km away.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423160"/>
            <a:ext cx="1298448" cy="868680"/>
          </a:xfrm>
          <a:prstGeom prst="roundRect">
            <a:avLst>
              <a:gd name="adj" fmla="val 12000"/>
            </a:avLst>
          </a:prstGeom>
          <a:solidFill>
            <a:srgbClr val="F6F9FD"/>
          </a:solidFill>
          <a:ln w="12700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20700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69" b="1">
                <a:solidFill>
                  <a:srgbClr val="0B2545"/>
                </a:solidFill>
                <a:latin typeface="Calibri"/>
              </a:rPr>
              <a:t>PTCL</a:t>
            </a:r>
          </a:p>
          <a:p>
            <a:pPr algn="ctr">
              <a:lnSpc>
                <a:spcPct val="105000"/>
              </a:lnSpc>
            </a:pPr>
            <a:r>
              <a:rPr sz="969" b="0">
                <a:solidFill>
                  <a:srgbClr val="0B2545"/>
                </a:solidFill>
                <a:latin typeface="Calibri"/>
              </a:rPr>
              <a:t>(Mianwali)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03704" y="2423160"/>
            <a:ext cx="1298448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9424" y="2423160"/>
            <a:ext cx="120700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69" b="1">
                <a:solidFill>
                  <a:srgbClr val="0B2545"/>
                </a:solidFill>
                <a:latin typeface="Calibri"/>
              </a:rPr>
              <a:t>NTT</a:t>
            </a:r>
          </a:p>
          <a:p>
            <a:pPr algn="ctr">
              <a:lnSpc>
                <a:spcPct val="105000"/>
              </a:lnSpc>
            </a:pPr>
            <a:r>
              <a:rPr sz="969" b="0">
                <a:solidFill>
                  <a:srgbClr val="0B2545"/>
                </a:solidFill>
                <a:latin typeface="Calibri"/>
              </a:rPr>
              <a:t>Singapore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21608" y="2423160"/>
            <a:ext cx="1298448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67328" y="2423160"/>
            <a:ext cx="120700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69" b="1">
                <a:solidFill>
                  <a:srgbClr val="0B2545"/>
                </a:solidFill>
                <a:latin typeface="Calibri"/>
              </a:rPr>
              <a:t>Telecom Italia</a:t>
            </a:r>
          </a:p>
          <a:p>
            <a:pPr algn="ctr">
              <a:lnSpc>
                <a:spcPct val="105000"/>
              </a:lnSpc>
            </a:pPr>
            <a:r>
              <a:rPr sz="969" b="0">
                <a:solidFill>
                  <a:srgbClr val="0B2545"/>
                </a:solidFill>
                <a:latin typeface="Calibri"/>
              </a:rPr>
              <a:t>Sparkle — Paris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9512" y="2423160"/>
            <a:ext cx="1298448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85232" y="2423160"/>
            <a:ext cx="120700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69" b="1">
                <a:solidFill>
                  <a:srgbClr val="0B2545"/>
                </a:solidFill>
                <a:latin typeface="Calibri"/>
              </a:rPr>
              <a:t>Telecom Italia</a:t>
            </a:r>
          </a:p>
          <a:p>
            <a:pPr algn="ctr">
              <a:lnSpc>
                <a:spcPct val="105000"/>
              </a:lnSpc>
            </a:pPr>
            <a:r>
              <a:rPr sz="969" b="0">
                <a:solidFill>
                  <a:srgbClr val="0B2545"/>
                </a:solidFill>
                <a:latin typeface="Calibri"/>
              </a:rPr>
              <a:t>Sparkle — Rome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57416" y="2423160"/>
            <a:ext cx="1298448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03136" y="2423160"/>
            <a:ext cx="120700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69" b="1">
                <a:solidFill>
                  <a:srgbClr val="0B2545"/>
                </a:solidFill>
                <a:latin typeface="Calibri"/>
              </a:rPr>
              <a:t>Transworld</a:t>
            </a:r>
          </a:p>
          <a:p>
            <a:pPr algn="ctr">
              <a:lnSpc>
                <a:spcPct val="105000"/>
              </a:lnSpc>
            </a:pPr>
            <a:r>
              <a:rPr sz="969" b="0">
                <a:solidFill>
                  <a:srgbClr val="0B2545"/>
                </a:solidFill>
                <a:latin typeface="Calibri"/>
              </a:rPr>
              <a:t>backbone (PK)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2423160"/>
            <a:ext cx="1298448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423160"/>
            <a:ext cx="120700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69" b="1">
                <a:solidFill>
                  <a:srgbClr val="0B2545"/>
                </a:solidFill>
                <a:latin typeface="Calibri"/>
              </a:rPr>
              <a:t>Cogent</a:t>
            </a:r>
          </a:p>
          <a:p>
            <a:pPr algn="ctr">
              <a:lnSpc>
                <a:spcPct val="105000"/>
              </a:lnSpc>
            </a:pPr>
            <a:r>
              <a:rPr sz="969" b="0">
                <a:solidFill>
                  <a:srgbClr val="0B2545"/>
                </a:solidFill>
                <a:latin typeface="Calibri"/>
              </a:rPr>
              <a:t>in-PK PoP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93224" y="2423160"/>
            <a:ext cx="1298448" cy="868680"/>
          </a:xfrm>
          <a:prstGeom prst="roundRect">
            <a:avLst>
              <a:gd name="adj" fmla="val 12000"/>
            </a:avLst>
          </a:prstGeom>
          <a:solidFill>
            <a:srgbClr val="0B2957"/>
          </a:solidFill>
          <a:ln w="12700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38944" y="2423160"/>
            <a:ext cx="120700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69" b="1">
                <a:solidFill>
                  <a:srgbClr val="FFFFFF"/>
                </a:solidFill>
                <a:latin typeface="Calibri"/>
              </a:rPr>
              <a:t>Fariya Networks</a:t>
            </a:r>
          </a:p>
          <a:p>
            <a:pPr algn="ctr">
              <a:lnSpc>
                <a:spcPct val="105000"/>
              </a:lnSpc>
            </a:pPr>
            <a:r>
              <a:rPr sz="969" b="0">
                <a:solidFill>
                  <a:srgbClr val="FFFFFF"/>
                </a:solidFill>
                <a:latin typeface="Calibri"/>
              </a:rPr>
              <a:t>networld.pk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984248" y="2857500"/>
            <a:ext cx="219456" cy="0"/>
          </a:xfrm>
          <a:prstGeom prst="line">
            <a:avLst/>
          </a:prstGeom>
          <a:ln w="22225">
            <a:solidFill>
              <a:srgbClr val="2E6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02152" y="2857500"/>
            <a:ext cx="219456" cy="0"/>
          </a:xfrm>
          <a:prstGeom prst="line">
            <a:avLst/>
          </a:prstGeom>
          <a:ln w="22225">
            <a:solidFill>
              <a:srgbClr val="2E6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20056" y="2857500"/>
            <a:ext cx="219456" cy="0"/>
          </a:xfrm>
          <a:prstGeom prst="line">
            <a:avLst/>
          </a:prstGeom>
          <a:ln w="22225">
            <a:solidFill>
              <a:srgbClr val="2E6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537960" y="2857500"/>
            <a:ext cx="219456" cy="0"/>
          </a:xfrm>
          <a:prstGeom prst="line">
            <a:avLst/>
          </a:prstGeom>
          <a:ln w="22225">
            <a:solidFill>
              <a:srgbClr val="2E6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055864" y="2857500"/>
            <a:ext cx="219456" cy="0"/>
          </a:xfrm>
          <a:prstGeom prst="line">
            <a:avLst/>
          </a:prstGeom>
          <a:ln w="22225">
            <a:solidFill>
              <a:srgbClr val="2E6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573768" y="2857500"/>
            <a:ext cx="219456" cy="0"/>
          </a:xfrm>
          <a:prstGeom prst="line">
            <a:avLst/>
          </a:prstGeom>
          <a:ln w="22225">
            <a:solidFill>
              <a:srgbClr val="2E6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85800" y="3703320"/>
            <a:ext cx="5257800" cy="1417320"/>
          </a:xfrm>
          <a:prstGeom prst="roundRect">
            <a:avLst>
              <a:gd name="adj" fmla="val 4000"/>
            </a:avLst>
          </a:prstGeom>
          <a:solidFill>
            <a:srgbClr val="F6F9FD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3703320"/>
            <a:ext cx="54864" cy="1417320"/>
          </a:xfrm>
          <a:prstGeom prst="rect">
            <a:avLst/>
          </a:prstGeom>
          <a:solidFill>
            <a:srgbClr val="174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3794760"/>
            <a:ext cx="4855464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174BA6"/>
                </a:solidFill>
                <a:latin typeface="Consolas"/>
              </a:rPr>
              <a:t>WHAT THIS SHOWS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150" b="0">
                <a:solidFill>
                  <a:srgbClr val="415C7A"/>
                </a:solidFill>
                <a:latin typeface="Calibri"/>
              </a:rPr>
              <a:t>The path leaves Pakistan via Singapore, crosses to Europe on an Italian carrier's own backbone (Telecom Italia Sparkle — Paris, then Rome), re-enters Pakistan through Transworld, and finally reaches its Pakistani destination through Cogent's in-country PoP. Nothing about the destination required this — it's domestically hosted.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703320"/>
            <a:ext cx="5287975" cy="1417320"/>
          </a:xfrm>
          <a:prstGeom prst="roundRect">
            <a:avLst>
              <a:gd name="adj" fmla="val 4000"/>
            </a:avLst>
          </a:prstGeom>
          <a:solidFill>
            <a:srgbClr val="F6F9FD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3703320"/>
            <a:ext cx="54864" cy="1417320"/>
          </a:xfrm>
          <a:prstGeom prst="rect">
            <a:avLst/>
          </a:prstGeom>
          <a:solidFill>
            <a:srgbClr val="2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37376" y="3794760"/>
            <a:ext cx="4885639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2E6FE0"/>
                </a:solidFill>
                <a:latin typeface="Consolas"/>
              </a:rPr>
              <a:t>RELIABILITY CAVEAT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150" b="0">
                <a:solidFill>
                  <a:srgbClr val="415C7A"/>
                </a:solidFill>
                <a:latin typeface="Calibri"/>
              </a:rPr>
              <a:t>This trace is from PTCL Mianwali, a probe whose absolute RTT readings are known to be inflated in parts of the panel (see the Mianwali data-quality note). Treat the millisecond values with caution — but hop identity doesn't depend on RTT accuracy: the sequence of real, resolvable companies and cities crossed is solid.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349240"/>
            <a:ext cx="10820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500"/>
              </a:spcAft>
            </a:pPr>
            <a:r>
              <a:rPr sz="1050" b="0">
                <a:solidFill>
                  <a:srgbClr val="8BA0B8"/>
                </a:solidFill>
                <a:latin typeface="Calibri"/>
              </a:rPr>
              <a:t>Not cited as prevalence evidence — </a:t>
            </a:r>
            <a:r>
              <a:rPr sz="1050" b="0">
                <a:solidFill>
                  <a:srgbClr val="8BA0B8"/>
                </a:solidFill>
                <a:latin typeface="Calibri"/>
              </a:rPr>
              <a:t>this is one illustrative trace, not a resampled rate. The aggregate tromboning numbers elsewhere in this deck are what establish how common this is.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spc="100">
                <a:solidFill>
                  <a:srgbClr val="8BA0B8"/>
                </a:solidFill>
                <a:latin typeface="Consolas"/>
              </a:rPr>
              <a:t>CASE STUDY  </a:t>
            </a:r>
            <a:r>
              <a:rPr sz="1200" b="0" spc="100">
                <a:solidFill>
                  <a:srgbClr val="2E6FE0"/>
                </a:solidFill>
                <a:latin typeface="Consolas"/>
              </a:rPr>
              <a:t>EDA_FINDINGS.MD — ROUTE DEEP-DIVES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795528"/>
            <a:ext cx="256032" cy="0"/>
          </a:xfrm>
          <a:prstGeom prst="line">
            <a:avLst/>
          </a:prstGeom>
          <a:ln w="19050">
            <a:solidFill>
              <a:srgbClr val="2E6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914400"/>
            <a:ext cx="108200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200" b="1">
                <a:solidFill>
                  <a:srgbClr val="0B2545"/>
                </a:solidFill>
                <a:latin typeface="Georgia"/>
              </a:rPr>
              <a:t>fgeha.gov.pk: routed through a DDoS-scrubbing center abroad —
and it isn't a one-off.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820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500"/>
              </a:spcAft>
            </a:pPr>
            <a:r>
              <a:rPr sz="1250" b="0">
                <a:solidFill>
                  <a:srgbClr val="415C7A"/>
                </a:solidFill>
                <a:latin typeface="Calibri"/>
              </a:rPr>
              <a:t>Federal Government Employees Housing Authority. Same pattern confirmed across 7–8 different probes/ISPs — not a single-trace fluke.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423160"/>
            <a:ext cx="1600200" cy="868680"/>
          </a:xfrm>
          <a:prstGeom prst="roundRect">
            <a:avLst>
              <a:gd name="adj" fmla="val 12000"/>
            </a:avLst>
          </a:prstGeom>
          <a:solidFill>
            <a:srgbClr val="F6F9FD"/>
          </a:solidFill>
          <a:ln w="12700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508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30" b="1">
                <a:solidFill>
                  <a:srgbClr val="0B2545"/>
                </a:solidFill>
                <a:latin typeface="Calibri"/>
              </a:rPr>
              <a:t>PTCL</a:t>
            </a:r>
          </a:p>
          <a:p>
            <a:pPr algn="ctr">
              <a:lnSpc>
                <a:spcPct val="105000"/>
              </a:lnSpc>
            </a:pPr>
            <a:r>
              <a:rPr sz="1030" b="0">
                <a:solidFill>
                  <a:srgbClr val="0B2545"/>
                </a:solidFill>
                <a:latin typeface="Calibri"/>
              </a:rPr>
              <a:t>(Mianwali)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42032" y="2423160"/>
            <a:ext cx="16002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87752" y="2423160"/>
            <a:ext cx="1508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30" b="1">
                <a:solidFill>
                  <a:srgbClr val="0B2545"/>
                </a:solidFill>
                <a:latin typeface="Calibri"/>
              </a:rPr>
              <a:t>Equinix</a:t>
            </a:r>
          </a:p>
          <a:p>
            <a:pPr algn="ctr">
              <a:lnSpc>
                <a:spcPct val="105000"/>
              </a:lnSpc>
            </a:pPr>
            <a:r>
              <a:rPr sz="1030" b="0">
                <a:solidFill>
                  <a:srgbClr val="0B2545"/>
                </a:solidFill>
                <a:latin typeface="Calibri"/>
              </a:rPr>
              <a:t>Singapore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2423160"/>
            <a:ext cx="16002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4" y="2423160"/>
            <a:ext cx="1508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30" b="1">
                <a:solidFill>
                  <a:srgbClr val="0B2545"/>
                </a:solidFill>
                <a:latin typeface="Calibri"/>
              </a:rPr>
              <a:t>Akamai Prolexic</a:t>
            </a:r>
          </a:p>
          <a:p>
            <a:pPr algn="ctr">
              <a:lnSpc>
                <a:spcPct val="105000"/>
              </a:lnSpc>
            </a:pPr>
            <a:r>
              <a:rPr sz="1030" b="0">
                <a:solidFill>
                  <a:srgbClr val="0B2545"/>
                </a:solidFill>
                <a:latin typeface="Calibri"/>
              </a:rPr>
              <a:t>(DDoS scrubbing)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2423160"/>
            <a:ext cx="16002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0216" y="2423160"/>
            <a:ext cx="1508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30" b="1">
                <a:solidFill>
                  <a:srgbClr val="0B2545"/>
                </a:solidFill>
                <a:latin typeface="Calibri"/>
              </a:rPr>
              <a:t>NTC</a:t>
            </a:r>
          </a:p>
          <a:p>
            <a:pPr algn="ctr">
              <a:lnSpc>
                <a:spcPct val="105000"/>
              </a:lnSpc>
            </a:pPr>
            <a:r>
              <a:rPr sz="1030" b="0">
                <a:solidFill>
                  <a:srgbClr val="0B2545"/>
                </a:solidFill>
                <a:latin typeface="Calibri"/>
              </a:rPr>
              <a:t>(Pakistan state telecom)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0728" y="2423160"/>
            <a:ext cx="16002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56448" y="2423160"/>
            <a:ext cx="1508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30" b="1">
                <a:solidFill>
                  <a:srgbClr val="0B2545"/>
                </a:solidFill>
                <a:latin typeface="Calibri"/>
              </a:rPr>
              <a:t>Cybernet</a:t>
            </a:r>
          </a:p>
          <a:p>
            <a:pPr algn="ctr">
              <a:lnSpc>
                <a:spcPct val="105000"/>
              </a:lnSpc>
            </a:pPr>
            <a:r>
              <a:rPr sz="1030" b="0">
                <a:solidFill>
                  <a:srgbClr val="0B2545"/>
                </a:solidFill>
                <a:latin typeface="Calibri"/>
              </a:rPr>
              <a:t>(Lahore)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66960" y="2423160"/>
            <a:ext cx="1600200" cy="868680"/>
          </a:xfrm>
          <a:prstGeom prst="roundRect">
            <a:avLst>
              <a:gd name="adj" fmla="val 12000"/>
            </a:avLst>
          </a:prstGeom>
          <a:solidFill>
            <a:srgbClr val="0B2957"/>
          </a:solidFill>
          <a:ln w="12700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12680" y="2423160"/>
            <a:ext cx="1508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30" b="1">
                <a:solidFill>
                  <a:srgbClr val="FFFFFF"/>
                </a:solidFill>
                <a:latin typeface="Calibri"/>
              </a:rPr>
              <a:t>fgeha.gov.pk</a:t>
            </a:r>
          </a:p>
          <a:p>
            <a:pPr algn="ctr">
              <a:lnSpc>
                <a:spcPct val="105000"/>
              </a:lnSpc>
            </a:pPr>
            <a:r>
              <a:rPr sz="1030" b="0">
                <a:solidFill>
                  <a:srgbClr val="FFFFFF"/>
                </a:solidFill>
                <a:latin typeface="Calibri"/>
              </a:rPr>
              <a:t>final host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86000" y="2857500"/>
            <a:ext cx="256032" cy="0"/>
          </a:xfrm>
          <a:prstGeom prst="line">
            <a:avLst/>
          </a:prstGeom>
          <a:ln w="22225">
            <a:solidFill>
              <a:srgbClr val="2E6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142232" y="2857500"/>
            <a:ext cx="256032" cy="0"/>
          </a:xfrm>
          <a:prstGeom prst="line">
            <a:avLst/>
          </a:prstGeom>
          <a:ln w="22225">
            <a:solidFill>
              <a:srgbClr val="2E6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998464" y="2857500"/>
            <a:ext cx="256032" cy="0"/>
          </a:xfrm>
          <a:prstGeom prst="line">
            <a:avLst/>
          </a:prstGeom>
          <a:ln w="22225">
            <a:solidFill>
              <a:srgbClr val="2E6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854696" y="2857500"/>
            <a:ext cx="256032" cy="0"/>
          </a:xfrm>
          <a:prstGeom prst="line">
            <a:avLst/>
          </a:prstGeom>
          <a:ln w="22225">
            <a:solidFill>
              <a:srgbClr val="2E6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710928" y="2857500"/>
            <a:ext cx="256032" cy="0"/>
          </a:xfrm>
          <a:prstGeom prst="line">
            <a:avLst/>
          </a:prstGeom>
          <a:ln w="22225">
            <a:solidFill>
              <a:srgbClr val="2E6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85800" y="3703320"/>
            <a:ext cx="5257800" cy="1554480"/>
          </a:xfrm>
          <a:prstGeom prst="roundRect">
            <a:avLst>
              <a:gd name="adj" fmla="val 4000"/>
            </a:avLst>
          </a:prstGeom>
          <a:solidFill>
            <a:srgbClr val="F6F9FD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3703320"/>
            <a:ext cx="54864" cy="1554480"/>
          </a:xfrm>
          <a:prstGeom prst="rect">
            <a:avLst/>
          </a:prstGeom>
          <a:solidFill>
            <a:srgbClr val="174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3794760"/>
            <a:ext cx="485546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174BA6"/>
                </a:solidFill>
                <a:latin typeface="Consolas"/>
              </a:rPr>
              <a:t>WHY PROLEXIC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150" b="0">
                <a:solidFill>
                  <a:srgbClr val="415C7A"/>
                </a:solidFill>
                <a:latin typeface="Calibri"/>
              </a:rPr>
              <a:t>Akamai Prolexic is a DDoS-mitigation service — traffic is deliberately routed through a scrubbing center before reaching the real server, which is a legitimate security reason to leave the country. What's not explained by security: the path re-enters through NTC (Pakistan's own state telecom) before finally reaching Cybernet — two domestic carriers involved, still funneled via Singapore first.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703320"/>
            <a:ext cx="5287975" cy="1554480"/>
          </a:xfrm>
          <a:prstGeom prst="roundRect">
            <a:avLst>
              <a:gd name="adj" fmla="val 4000"/>
            </a:avLst>
          </a:prstGeom>
          <a:solidFill>
            <a:srgbClr val="F6F9FD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703320"/>
            <a:ext cx="54864" cy="1554480"/>
          </a:xfrm>
          <a:prstGeom prst="rect">
            <a:avLst/>
          </a:prstGeom>
          <a:solidFill>
            <a:srgbClr val="2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3794760"/>
            <a:ext cx="488563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2E6FE0"/>
                </a:solidFill>
                <a:latin typeface="Consolas"/>
              </a:rPr>
              <a:t>NOT ISOLATED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150" b="0">
                <a:solidFill>
                  <a:srgbClr val="415C7A"/>
                </a:solidFill>
                <a:latin typeface="Calibri"/>
              </a:rPr>
              <a:t>The same /24 block hosts ztbl.com.pk (a state bank), and the identical Prolexic hairpin was already documented for moitt.gov.pk and railways.gov.pk. Four government/state sites, one shared address block, one shared foreign detour — a block-level pattern, not a single site's misconfiguration.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486400"/>
            <a:ext cx="10820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500"/>
              </a:spcAft>
            </a:pPr>
            <a:r>
              <a:rPr sz="1050" b="0">
                <a:solidFill>
                  <a:srgbClr val="8BA0B8"/>
                </a:solidFill>
                <a:latin typeface="Calibri"/>
              </a:rPr>
              <a:t>Same reliability caveat as networld.pk — </a:t>
            </a:r>
            <a:r>
              <a:rPr sz="1050" b="0">
                <a:solidFill>
                  <a:srgbClr val="8BA0B8"/>
                </a:solidFill>
                <a:latin typeface="Calibri"/>
              </a:rPr>
              <a:t>this trace is also from PTCL Mianwali; read the hop sequence as solid, the RTT values as approximate.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