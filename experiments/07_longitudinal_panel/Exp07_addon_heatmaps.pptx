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Rounded Rectangle 8"/>
          <p:cNvSpPr/>
          <p:nvPr/>
        </p:nvSpPr>
        <p:spPr>
          <a:xfrm>
            <a:off x="4202709" y="2011680"/>
            <a:ext cx="7068105" cy="3200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2011680"/>
            <a:ext cx="3260877" cy="3200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685800" y="457200"/>
            <a:ext cx="108200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spc="100">
                <a:solidFill>
                  <a:srgbClr val="8BA0B8"/>
                </a:solidFill>
                <a:latin typeface="Consolas"/>
              </a:rPr>
              <a:t>RTT  </a:t>
            </a:r>
            <a:r>
              <a:rPr sz="1200" b="0" spc="100">
                <a:solidFill>
                  <a:srgbClr val="2E6FE0"/>
                </a:solidFill>
                <a:latin typeface="Consolas"/>
              </a:rPr>
              <a:t>EVERY PROBE, EVERY CONTENT TYPE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795528"/>
            <a:ext cx="256032" cy="0"/>
          </a:xfrm>
          <a:prstGeom prst="line">
            <a:avLst/>
          </a:prstGeom>
          <a:ln w="19050">
            <a:solidFill>
              <a:srgbClr val="2E6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914400"/>
            <a:ext cx="108200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2600" b="1">
                <a:solidFill>
                  <a:srgbClr val="0B2545"/>
                </a:solidFill>
                <a:latin typeface="Georgia"/>
              </a:rPr>
              <a:t>Where does ISP choice actually matter?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8200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415C7A"/>
                </a:solidFill>
                <a:latin typeface="Calibri"/>
              </a:rPr>
              <a:t>Median ping RTT, all 14 probes. Domestic and foreign content land in a narrow band for everyone — CDN content doesn't, and neither does the handful of Pakistani sites on the right.</a:t>
            </a:r>
          </a:p>
        </p:txBody>
      </p:sp>
      <p:pic>
        <p:nvPicPr>
          <p:cNvPr id="7" name="Picture 6" descr="fig_heatm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2066544"/>
            <a:ext cx="3151149" cy="30906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257800"/>
            <a:ext cx="326087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spc="30">
                <a:solidFill>
                  <a:srgbClr val="8BA0B8"/>
                </a:solidFill>
                <a:latin typeface="Consolas"/>
              </a:rPr>
              <a:t>EVERY ISP, BY CONTENT TYPE</a:t>
            </a:r>
          </a:p>
        </p:txBody>
      </p:sp>
      <p:pic>
        <p:nvPicPr>
          <p:cNvPr id="10" name="Picture 9" descr="fig_heatmap_pk_sites_sl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7573" y="2066544"/>
            <a:ext cx="6958377" cy="30906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02709" y="5257800"/>
            <a:ext cx="706810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spc="30">
                <a:solidFill>
                  <a:srgbClr val="8BA0B8"/>
                </a:solidFill>
                <a:latin typeface="Consolas"/>
              </a:rPr>
              <a:t>PAKISTAN-HOSTED SITES, SORTED BY ISP DISAGREEMENT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623560"/>
            <a:ext cx="10820095" cy="914400"/>
          </a:xfrm>
          <a:prstGeom prst="roundRect">
            <a:avLst>
              <a:gd name="adj" fmla="val 4000"/>
            </a:avLst>
          </a:prstGeom>
          <a:solidFill>
            <a:srgbClr val="F6F9FD"/>
          </a:solidFill>
          <a:ln w="9525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5623560"/>
            <a:ext cx="54864" cy="914400"/>
          </a:xfrm>
          <a:prstGeom prst="rect">
            <a:avLst/>
          </a:prstGeom>
          <a:solidFill>
            <a:srgbClr val="174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5715000"/>
            <a:ext cx="104177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174BA6"/>
                </a:solidFill>
                <a:latin typeface="Consolas"/>
              </a:rPr>
              <a:t>THE PATTERN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150" b="0">
                <a:solidFill>
                  <a:srgbClr val="415C7A"/>
                </a:solidFill>
                <a:latin typeface="Calibri"/>
              </a:rPr>
              <a:t>Left grid: Pakistan and Abroad columns stay consistent for every ISP; CDN swings from 3 ms to 277 ms. Right grid: most Pakistani sites are uniform too — except a handful (efulife.com, networld.pk) where one ISP reaches them fast and everyone else pays 5–40× more.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