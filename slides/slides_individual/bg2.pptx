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Georgia Bold" charset="1" panose="02040802050405020203"/>
      <p:regular r:id="rId7"/>
    </p:embeddedFont>
    <p:embeddedFont>
      <p:font typeface="Calibri (MS) Bold" charset="1" panose="020F0702030404030204"/>
      <p:regular r:id="rId8"/>
    </p:embeddedFont>
    <p:embeddedFont>
      <p:font typeface="Calibri (MS)" charset="1" panose="020F050202020403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61918" y="602900"/>
            <a:ext cx="7999016" cy="10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8"/>
              </a:lnSpc>
            </a:pPr>
            <a:r>
              <a:rPr lang="en-US" sz="4957" b="true">
                <a:solidFill>
                  <a:srgbClr val="0B2545"/>
                </a:solidFill>
                <a:latin typeface="Georgia Bold"/>
                <a:ea typeface="Georgia Bold"/>
                <a:cs typeface="Georgia Bold"/>
                <a:sym typeface="Georgia Bold"/>
              </a:rPr>
              <a:t>Background: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8579" y="1585636"/>
            <a:ext cx="1199849" cy="93323"/>
            <a:chOff x="0" y="0"/>
            <a:chExt cx="1647203" cy="12811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190" cy="128016"/>
            </a:xfrm>
            <a:custGeom>
              <a:avLst/>
              <a:gdLst/>
              <a:ahLst/>
              <a:cxnLst/>
              <a:rect r="r" b="b" t="t" l="l"/>
              <a:pathLst>
                <a:path h="128016" w="1647190">
                  <a:moveTo>
                    <a:pt x="0" y="64008"/>
                  </a:moveTo>
                  <a:cubicBezTo>
                    <a:pt x="0" y="28702"/>
                    <a:pt x="28702" y="0"/>
                    <a:pt x="64008" y="0"/>
                  </a:cubicBezTo>
                  <a:lnTo>
                    <a:pt x="1583182" y="0"/>
                  </a:lnTo>
                  <a:cubicBezTo>
                    <a:pt x="1618615" y="0"/>
                    <a:pt x="1647190" y="28702"/>
                    <a:pt x="1647190" y="64008"/>
                  </a:cubicBezTo>
                  <a:cubicBezTo>
                    <a:pt x="1647190" y="99314"/>
                    <a:pt x="1618488" y="128016"/>
                    <a:pt x="1583182" y="128016"/>
                  </a:cubicBezTo>
                  <a:lnTo>
                    <a:pt x="64008" y="128016"/>
                  </a:lnTo>
                  <a:cubicBezTo>
                    <a:pt x="28702" y="128143"/>
                    <a:pt x="0" y="99441"/>
                    <a:pt x="0" y="64008"/>
                  </a:cubicBezTo>
                  <a:close/>
                </a:path>
              </a:pathLst>
            </a:custGeom>
            <a:solidFill>
              <a:srgbClr val="174BA6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54971" y="1978642"/>
            <a:ext cx="7412973" cy="1280396"/>
            <a:chOff x="0" y="0"/>
            <a:chExt cx="10176840" cy="17577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76764" cy="1757680"/>
            </a:xfrm>
            <a:custGeom>
              <a:avLst/>
              <a:gdLst/>
              <a:ahLst/>
              <a:cxnLst/>
              <a:rect r="r" b="b" t="t" l="l"/>
              <a:pathLst>
                <a:path h="1757680" w="10176764">
                  <a:moveTo>
                    <a:pt x="0" y="105410"/>
                  </a:moveTo>
                  <a:cubicBezTo>
                    <a:pt x="0" y="47244"/>
                    <a:pt x="47244" y="0"/>
                    <a:pt x="105410" y="0"/>
                  </a:cubicBezTo>
                  <a:lnTo>
                    <a:pt x="10071354" y="0"/>
                  </a:lnTo>
                  <a:cubicBezTo>
                    <a:pt x="10129648" y="0"/>
                    <a:pt x="10176764" y="47244"/>
                    <a:pt x="10176764" y="105410"/>
                  </a:cubicBezTo>
                  <a:lnTo>
                    <a:pt x="10176764" y="1652270"/>
                  </a:lnTo>
                  <a:cubicBezTo>
                    <a:pt x="10176764" y="1710563"/>
                    <a:pt x="10129520" y="1757680"/>
                    <a:pt x="10071354" y="1757680"/>
                  </a:cubicBezTo>
                  <a:lnTo>
                    <a:pt x="105410" y="1757680"/>
                  </a:lnTo>
                  <a:cubicBezTo>
                    <a:pt x="47117" y="1757680"/>
                    <a:pt x="0" y="1710436"/>
                    <a:pt x="0" y="1652270"/>
                  </a:cubicBezTo>
                  <a:close/>
                </a:path>
              </a:pathLst>
            </a:custGeom>
            <a:solidFill>
              <a:srgbClr val="F6F9FD"/>
            </a:solidFill>
            <a:ln w="14299" cap="sq">
              <a:solidFill>
                <a:srgbClr val="E2EAF7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027770" y="2265936"/>
            <a:ext cx="6812489" cy="685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186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150M+ broadband users, 7 submarine cables</a:t>
            </a:r>
          </a:p>
          <a:p>
            <a:pPr algn="l">
              <a:lnSpc>
                <a:spcPts val="2447"/>
              </a:lnSpc>
            </a:pPr>
            <a:r>
              <a:rPr lang="en-US" sz="2039">
                <a:solidFill>
                  <a:srgbClr val="16325E"/>
                </a:solidFill>
                <a:latin typeface="Calibri (MS)"/>
                <a:ea typeface="Calibri (MS)"/>
                <a:cs typeface="Calibri (MS)"/>
                <a:sym typeface="Calibri (MS)"/>
              </a:rPr>
              <a:t>8 cable faults reported since 2024.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54971" y="3458459"/>
            <a:ext cx="7412973" cy="1547034"/>
            <a:chOff x="0" y="0"/>
            <a:chExt cx="10176840" cy="21238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76764" cy="2123821"/>
            </a:xfrm>
            <a:custGeom>
              <a:avLst/>
              <a:gdLst/>
              <a:ahLst/>
              <a:cxnLst/>
              <a:rect r="r" b="b" t="t" l="l"/>
              <a:pathLst>
                <a:path h="2123821" w="10176764">
                  <a:moveTo>
                    <a:pt x="0" y="127381"/>
                  </a:moveTo>
                  <a:cubicBezTo>
                    <a:pt x="0" y="57023"/>
                    <a:pt x="57023" y="0"/>
                    <a:pt x="127381" y="0"/>
                  </a:cubicBezTo>
                  <a:lnTo>
                    <a:pt x="10049383" y="0"/>
                  </a:lnTo>
                  <a:cubicBezTo>
                    <a:pt x="10119740" y="0"/>
                    <a:pt x="10176764" y="57023"/>
                    <a:pt x="10176764" y="127381"/>
                  </a:cubicBezTo>
                  <a:lnTo>
                    <a:pt x="10176764" y="1996440"/>
                  </a:lnTo>
                  <a:cubicBezTo>
                    <a:pt x="10176764" y="2066798"/>
                    <a:pt x="10119740" y="2123821"/>
                    <a:pt x="10049383" y="2123821"/>
                  </a:cubicBezTo>
                  <a:lnTo>
                    <a:pt x="127381" y="2123821"/>
                  </a:lnTo>
                  <a:cubicBezTo>
                    <a:pt x="57023" y="2123821"/>
                    <a:pt x="0" y="2066798"/>
                    <a:pt x="0" y="1996440"/>
                  </a:cubicBezTo>
                  <a:close/>
                </a:path>
              </a:pathLst>
            </a:custGeom>
            <a:solidFill>
              <a:srgbClr val="F6F9FD"/>
            </a:solidFill>
            <a:ln w="14299" cap="sq">
              <a:solidFill>
                <a:srgbClr val="E2EAF7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027770" y="3712803"/>
            <a:ext cx="6415969" cy="1292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1"/>
              </a:lnSpc>
            </a:pPr>
            <a:r>
              <a:rPr lang="en-US" sz="2059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77 registered ISPs, 4 exchange points</a:t>
            </a:r>
          </a:p>
          <a:p>
            <a:pPr algn="l">
              <a:lnSpc>
                <a:spcPts val="2471"/>
              </a:lnSpc>
            </a:pPr>
            <a:r>
              <a:rPr lang="en-US" sz="2059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PKIX (Lahore, Karachi, Islamabad) plus PIE Karachi under</a:t>
            </a:r>
          </a:p>
          <a:p>
            <a:pPr algn="l">
              <a:lnSpc>
                <a:spcPts val="2471"/>
              </a:lnSpc>
            </a:pPr>
            <a:r>
              <a:rPr lang="en-US" sz="2059">
                <a:solidFill>
                  <a:srgbClr val="0B2545"/>
                </a:solidFill>
                <a:latin typeface="Calibri (MS)"/>
                <a:ea typeface="Calibri (MS)"/>
                <a:cs typeface="Calibri (MS)"/>
                <a:sym typeface="Calibri (MS)"/>
              </a:rPr>
              <a:t>DE-CIX. </a:t>
            </a:r>
          </a:p>
          <a:p>
            <a:pPr algn="l">
              <a:lnSpc>
                <a:spcPts val="2471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754971" y="5204915"/>
            <a:ext cx="7412973" cy="4053385"/>
            <a:chOff x="0" y="0"/>
            <a:chExt cx="10176840" cy="556465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176890" cy="5564632"/>
            </a:xfrm>
            <a:custGeom>
              <a:avLst/>
              <a:gdLst/>
              <a:ahLst/>
              <a:cxnLst/>
              <a:rect r="r" b="b" t="t" l="l"/>
              <a:pathLst>
                <a:path h="5564632" w="10176890">
                  <a:moveTo>
                    <a:pt x="0" y="333883"/>
                  </a:moveTo>
                  <a:cubicBezTo>
                    <a:pt x="0" y="149479"/>
                    <a:pt x="149479" y="0"/>
                    <a:pt x="333883" y="0"/>
                  </a:cubicBezTo>
                  <a:lnTo>
                    <a:pt x="9843008" y="0"/>
                  </a:lnTo>
                  <a:cubicBezTo>
                    <a:pt x="10027412" y="0"/>
                    <a:pt x="10176890" y="149479"/>
                    <a:pt x="10176890" y="333883"/>
                  </a:cubicBezTo>
                  <a:lnTo>
                    <a:pt x="10176890" y="5230749"/>
                  </a:lnTo>
                  <a:cubicBezTo>
                    <a:pt x="10176890" y="5415153"/>
                    <a:pt x="10027412" y="5564632"/>
                    <a:pt x="9843008" y="5564632"/>
                  </a:cubicBezTo>
                  <a:lnTo>
                    <a:pt x="333883" y="5564632"/>
                  </a:lnTo>
                  <a:cubicBezTo>
                    <a:pt x="149479" y="5564632"/>
                    <a:pt x="0" y="5415153"/>
                    <a:pt x="0" y="5230749"/>
                  </a:cubicBezTo>
                  <a:close/>
                </a:path>
              </a:pathLst>
            </a:custGeom>
            <a:solidFill>
              <a:srgbClr val="F6F9FD"/>
            </a:solidFill>
            <a:ln w="14299" cap="sq">
              <a:solidFill>
                <a:srgbClr val="E2EAF7"/>
              </a:solidFill>
              <a:prstDash val="solid"/>
              <a:miter/>
            </a:ln>
          </p:spPr>
        </p:sp>
      </p:grpSp>
      <p:sp>
        <p:nvSpPr>
          <p:cNvPr name="TextBox 13" id="13"/>
          <p:cNvSpPr txBox="true"/>
          <p:nvPr/>
        </p:nvSpPr>
        <p:spPr>
          <a:xfrm rot="0">
            <a:off x="1055217" y="5623932"/>
            <a:ext cx="6812489" cy="658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2186" b="true">
                <a:solidFill>
                  <a:srgbClr val="0B25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SMW5 cable fault, 2 Jul 2026</a:t>
            </a:r>
          </a:p>
          <a:p>
            <a:pPr algn="l">
              <a:lnSpc>
                <a:spcPts val="2186"/>
              </a:lnSpc>
            </a:pPr>
            <a:r>
              <a:rPr lang="en-US" sz="1822">
                <a:solidFill>
                  <a:srgbClr val="16325E"/>
                </a:solidFill>
                <a:latin typeface="Calibri (MS)"/>
                <a:ea typeface="Calibri (MS)"/>
                <a:cs typeface="Calibri (MS)"/>
                <a:sym typeface="Calibri (MS)"/>
              </a:rPr>
              <a:t>PTA confirmed fault with RIPE Atlas anchor data showing the impact.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61980" y="6085082"/>
            <a:ext cx="8398962" cy="3626219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 rot="0">
            <a:off x="8760934" y="3169327"/>
            <a:ext cx="8505613" cy="4071175"/>
            <a:chOff x="0" y="0"/>
            <a:chExt cx="11676863" cy="5589080"/>
          </a:xfrm>
        </p:grpSpPr>
        <p:sp>
          <p:nvSpPr>
            <p:cNvPr name="Freeform 16" id="16" descr="fig_gateway_capacity.png"/>
            <p:cNvSpPr/>
            <p:nvPr/>
          </p:nvSpPr>
          <p:spPr>
            <a:xfrm flipH="false" flipV="false" rot="0">
              <a:off x="0" y="0"/>
              <a:ext cx="11676888" cy="5589143"/>
            </a:xfrm>
            <a:custGeom>
              <a:avLst/>
              <a:gdLst/>
              <a:ahLst/>
              <a:cxnLst/>
              <a:rect r="r" b="b" t="t" l="l"/>
              <a:pathLst>
                <a:path h="5589143" w="11676888">
                  <a:moveTo>
                    <a:pt x="405366" y="0"/>
                  </a:moveTo>
                  <a:lnTo>
                    <a:pt x="11271522" y="0"/>
                  </a:lnTo>
                  <a:cubicBezTo>
                    <a:pt x="11495400" y="0"/>
                    <a:pt x="11676888" y="181488"/>
                    <a:pt x="11676888" y="405366"/>
                  </a:cubicBezTo>
                  <a:lnTo>
                    <a:pt x="11676888" y="5183777"/>
                  </a:lnTo>
                  <a:cubicBezTo>
                    <a:pt x="11676888" y="5291287"/>
                    <a:pt x="11634180" y="5394393"/>
                    <a:pt x="11558159" y="5470414"/>
                  </a:cubicBezTo>
                  <a:cubicBezTo>
                    <a:pt x="11482138" y="5546435"/>
                    <a:pt x="11379032" y="5589143"/>
                    <a:pt x="11271522" y="5589143"/>
                  </a:cubicBezTo>
                  <a:lnTo>
                    <a:pt x="405366" y="5589143"/>
                  </a:lnTo>
                  <a:cubicBezTo>
                    <a:pt x="181488" y="5589143"/>
                    <a:pt x="0" y="5407654"/>
                    <a:pt x="0" y="5183777"/>
                  </a:cubicBezTo>
                  <a:lnTo>
                    <a:pt x="0" y="405366"/>
                  </a:lnTo>
                  <a:cubicBezTo>
                    <a:pt x="0" y="181488"/>
                    <a:pt x="181488" y="0"/>
                    <a:pt x="405366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  <a:ln cap="rnd">
              <a:noFill/>
              <a:prstDash val="sysDot"/>
              <a:round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754971" y="9836734"/>
            <a:ext cx="16746607" cy="430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>
                <a:solidFill>
                  <a:srgbClr val="5B7699"/>
                </a:solidFill>
                <a:latin typeface="Calibri (MS)"/>
                <a:ea typeface="Calibri (MS)"/>
                <a:cs typeface="Calibri (MS)"/>
                <a:sym typeface="Calibri (MS)"/>
              </a:rPr>
              <a:t>Sources: PTA "Pakistan Peering Roadshow" (Ahmed Bakht Baloch, Director Cybersecurity PTA, 12 May 2026) · PACRA FY23 gateway capacity report · RIPE Atlas anchor mesh, 28 Jun–4 Jul 2026 (Exp 06.1.1)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DAHQmNCR0fo</dc:identifier>
  <dcterms:modified xsi:type="dcterms:W3CDTF">2011-08-01T06:04:30Z</dcterms:modified>
  <cp:revision>1</cp:revision>
  <dc:title>Local Path Project</dc:title>
</cp:coreProperties>
</file>