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6C4"/>
                </a:solidFill>
                <a:latin typeface="Courier New"/>
              </a:rPr>
              <a:t>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Tromboning Cost: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867912"/>
            <a:ext cx="5333695" cy="86868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l"/>
            <a:r>
              <a:rPr sz="2600" b="1">
                <a:solidFill>
                  <a:srgbClr val="1B2A4A"/>
                </a:solidFill>
                <a:latin typeface="Courier New"/>
              </a:rPr>
              <a:t>25.1 / 118.0 ms</a:t>
            </a:r>
          </a:p>
          <a:p>
            <a:pPr algn="l"/>
            <a:r>
              <a:rPr sz="1200">
                <a:solidFill>
                  <a:srgbClr val="93A6C4"/>
                </a:solidFill>
                <a:latin typeface="Arial"/>
              </a:rPr>
              <a:t>local vs tromboned median RTT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73752"/>
            <a:ext cx="5333695" cy="86868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l"/>
            <a:r>
              <a:rPr sz="2600" b="1">
                <a:solidFill>
                  <a:srgbClr val="1B2A4A"/>
                </a:solidFill>
                <a:latin typeface="Courier New"/>
              </a:rPr>
              <a:t>-56% / -75 ms</a:t>
            </a:r>
          </a:p>
          <a:p>
            <a:pPr algn="l"/>
            <a:r>
              <a:rPr sz="1200">
                <a:solidFill>
                  <a:srgbClr val="93A6C4"/>
                </a:solidFill>
                <a:latin typeface="Arial"/>
              </a:rPr>
              <a:t>median saving if the detour is avoided (4 comparable sites)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25312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93A6C4"/>
                </a:solidFill>
                <a:latin typeface="Arial"/>
              </a:rPr>
              <a:t>The rate is stable, not congestion-driven: 5.3-5.9% across hours of the day, 5.3-5.8% across days of the week, with no weekday-to-weekend difference.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626864"/>
            <a:ext cx="478231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93A6C4"/>
                </a:solidFill>
                <a:latin typeface="Arial"/>
              </a:rPr>
              <a:t>pooled across all sites, not a paired comparison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632704"/>
            <a:ext cx="478231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93A6C4"/>
                </a:solidFill>
                <a:latin typeface="Arial"/>
              </a:rPr>
              <a:t>same-site comparison, 4 sites, 12 tromboning pairs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1719072"/>
            <a:ext cx="53309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>
                <a:solidFill>
                  <a:srgbClr val="3A4455"/>
                </a:solidFill>
                <a:latin typeface="Arial"/>
              </a:rPr>
              <a:t>The 56% average leans toward </a:t>
            </a:r>
            <a:r>
              <a:rPr sz="1350" b="1">
                <a:solidFill>
                  <a:srgbClr val="1B2A4A"/>
                </a:solidFill>
                <a:latin typeface="Arial"/>
              </a:rPr>
              <a:t>efulife.com</a:t>
            </a:r>
            <a:r>
              <a:rPr sz="1350">
                <a:solidFill>
                  <a:srgbClr val="3A4455"/>
                </a:solidFill>
                <a:latin typeface="Arial"/>
              </a:rPr>
              <a:t>, the site with the most tromboning pairs to average over.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2231136"/>
            <a:ext cx="1636776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A4455"/>
                </a:solidFill>
                <a:latin typeface="Arial"/>
              </a:rPr>
              <a:t>efulife.com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14600" y="2254178"/>
            <a:ext cx="2103120" cy="145938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514600" y="2254178"/>
            <a:ext cx="1027660" cy="145938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9159" y="2231136"/>
            <a:ext cx="1417320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Arial"/>
              </a:rPr>
              <a:t>43% faster, 8 pairs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2505456"/>
            <a:ext cx="1636776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A4455"/>
                </a:solidFill>
                <a:latin typeface="Arial"/>
              </a:rPr>
              <a:t>networld.pk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14600" y="2528498"/>
            <a:ext cx="2103120" cy="145938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514600" y="2528498"/>
            <a:ext cx="2103120" cy="145938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59" y="2505456"/>
            <a:ext cx="1417320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Arial"/>
              </a:rPr>
              <a:t>88% faster, 2 pairs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2779775"/>
            <a:ext cx="1636776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A4455"/>
                </a:solidFill>
                <a:latin typeface="Arial"/>
              </a:rPr>
              <a:t>kknetworks.com.pk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514600" y="2802818"/>
            <a:ext cx="2103120" cy="145938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514600" y="2802818"/>
            <a:ext cx="2007523" cy="145938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59" y="2779775"/>
            <a:ext cx="1417320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Arial"/>
              </a:rPr>
              <a:t>84% faster, 1 pair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3054095"/>
            <a:ext cx="1636776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A4455"/>
                </a:solidFill>
                <a:latin typeface="Arial"/>
              </a:rPr>
              <a:t>zcomnetworks.com.pk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14600" y="3077138"/>
            <a:ext cx="2103120" cy="145938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514600" y="3077138"/>
            <a:ext cx="1577339" cy="145938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9159" y="3054095"/>
            <a:ext cx="1417320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Arial"/>
              </a:rPr>
              <a:t>66% faster, 1 pair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3401567"/>
            <a:ext cx="533095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Arial"/>
              </a:rPr>
              <a:t>Weighted by how many pairs each site contributes, the result is 56% faster, a median 75 ms saved.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