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A6C4"/>
                </a:solidFill>
                <a:latin typeface="Courier New"/>
              </a:rPr>
              <a:t>RQ2 · SAME-CITY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303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Domestic Content: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53312"/>
            <a:ext cx="1054303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93A6C4"/>
                </a:solidFill>
                <a:latin typeface="Arial"/>
              </a:rPr>
              <a:t>Median RTT per ISP to Pakistani-hosted sites, same 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Karachi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A   18.4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606040"/>
            <a:ext cx="1261532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G   20.3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3049524"/>
            <a:ext cx="1391799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9184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F   41.3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78992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826764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2.2x spread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101084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2648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8680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Lahore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680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I   17.15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78680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78680" y="2606040"/>
            <a:ext cx="1175830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8680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D   18.25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8680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78680" y="3049524"/>
            <a:ext cx="1251248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8680" y="329184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H   20.7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78680" y="3493008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78680" y="3493008"/>
            <a:ext cx="1419224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8680" y="3735324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C   23.7 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8680" y="3936492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78680" y="3936492"/>
            <a:ext cx="1624908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8680" y="4270248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1.4x spread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78680" y="4544568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2336" y="1874519"/>
            <a:ext cx="3343655" cy="315468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8367" y="2039112"/>
            <a:ext cx="28315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Islamabad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8367" y="2404872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C   23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8367" y="2606040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8367" y="2606040"/>
            <a:ext cx="1576915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8367" y="2848356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A4455"/>
                </a:solidFill>
                <a:latin typeface="Arial"/>
              </a:rPr>
              <a:t>ISP B   23.6 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8367" y="3049524"/>
            <a:ext cx="2831591" cy="150876"/>
          </a:xfrm>
          <a:prstGeom prst="roundRect">
            <a:avLst>
              <a:gd name="adj" fmla="val 40000"/>
            </a:avLst>
          </a:prstGeom>
          <a:solidFill>
            <a:srgbClr val="DC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78367" y="3049524"/>
            <a:ext cx="1618052" cy="150876"/>
          </a:xfrm>
          <a:prstGeom prst="roundRect">
            <a:avLst>
              <a:gd name="adj" fmla="val 4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8367" y="3383280"/>
            <a:ext cx="2831591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ourier New"/>
              </a:rPr>
              <a:t>1.0x spread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8367" y="3657600"/>
            <a:ext cx="2831591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3A6C4"/>
                </a:solidFill>
                <a:latin typeface="Arial"/>
              </a:rPr>
              <a:t>slowest ISP ÷ fastest ISP, same 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230368"/>
            <a:ext cx="10543032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93A6C4"/>
                </a:solidFill>
                <a:latin typeface="Arial"/>
              </a:rPr>
              <a:t>Domestic access is nearly identical across ISPs in every city, closest of all in Islamabad.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