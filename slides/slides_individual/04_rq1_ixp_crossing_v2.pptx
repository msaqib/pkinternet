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22960" y="457200"/>
            <a:ext cx="4114800" cy="292608"/>
          </a:xfrm>
          <a:prstGeom prst="rect">
            <a:avLst/>
          </a:prstGeom>
          <a:noFill/>
        </p:spPr>
        <p:txBody>
          <a:bodyPr wrap="square" anchor="t" lIns="0" rIns="0" tIns="0" bIns="0">
            <a:spAutoFit/>
          </a:bodyPr>
          <a:lstStyle/>
          <a:p>
            <a:pPr algn="l"/>
            <a:r>
              <a:rPr sz="1300" b="0" i="0">
                <a:solidFill>
                  <a:srgbClr val="93A6C4"/>
                </a:solidFill>
                <a:latin typeface="Courier New"/>
              </a:rPr>
              <a:t>RQ1</a:t>
            </a:r>
          </a:p>
        </p:txBody>
      </p:sp>
      <p:sp>
        <p:nvSpPr>
          <p:cNvPr id="3" name="TextBox 2"/>
          <p:cNvSpPr txBox="1"/>
          <p:nvPr/>
        </p:nvSpPr>
        <p:spPr>
          <a:xfrm>
            <a:off x="822960" y="713232"/>
            <a:ext cx="10543032" cy="685800"/>
          </a:xfrm>
          <a:prstGeom prst="rect">
            <a:avLst/>
          </a:prstGeom>
          <a:noFill/>
        </p:spPr>
        <p:txBody>
          <a:bodyPr wrap="square" anchor="t" lIns="0" rIns="0" tIns="0" bIns="0">
            <a:spAutoFit/>
          </a:bodyPr>
          <a:lstStyle/>
          <a:p>
            <a:pPr algn="l"/>
            <a:r>
              <a:rPr sz="3200" b="1" i="0">
                <a:solidFill>
                  <a:srgbClr val="1B2A4A"/>
                </a:solidFill>
                <a:latin typeface="Georgia"/>
              </a:rPr>
              <a:t>IXP Crossing:</a:t>
            </a:r>
          </a:p>
        </p:txBody>
      </p:sp>
      <p:sp>
        <p:nvSpPr>
          <p:cNvPr id="4" name="Rounded Rectangle 3"/>
          <p:cNvSpPr/>
          <p:nvPr/>
        </p:nvSpPr>
        <p:spPr>
          <a:xfrm>
            <a:off x="822960" y="1719072"/>
            <a:ext cx="5513832" cy="1417320"/>
          </a:xfrm>
          <a:prstGeom prst="roundRect">
            <a:avLst>
              <a:gd name="adj" fmla="val 4000"/>
            </a:avLst>
          </a:prstGeom>
          <a:solidFill>
            <a:srgbClr val="EEF2FA"/>
          </a:solidFill>
          <a:ln w="9525">
            <a:solidFill>
              <a:srgbClr val="DCE4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4873752" cy="1014984"/>
          </a:xfrm>
          <a:prstGeom prst="rect">
            <a:avLst/>
          </a:prstGeom>
          <a:noFill/>
        </p:spPr>
        <p:txBody>
          <a:bodyPr wrap="square" anchor="ctr" lIns="0" rIns="0" tIns="0" bIns="0">
            <a:spAutoFit/>
          </a:bodyPr>
          <a:lstStyle/>
          <a:p>
            <a:pPr algn="l">
              <a:lnSpc>
                <a:spcPct val="125000"/>
              </a:lnSpc>
            </a:pPr>
            <a:r>
              <a:rPr sz="1400" b="0" i="0">
                <a:solidFill>
                  <a:srgbClr val="3A4455"/>
                </a:solidFill>
                <a:latin typeface="Arial"/>
              </a:rPr>
              <a:t>Across the full week, none of the traces we scanned crossed PKIX Lahore or PIE Karachi's peering fabric, the two exchanges whose addressing we could verify. PKIX Islamabad and Karachi's addressing couldn't be confirmed, so no crossing claim is made for those two.</a:t>
            </a:r>
          </a:p>
        </p:txBody>
      </p:sp>
      <p:sp>
        <p:nvSpPr>
          <p:cNvPr id="6" name="Rounded Rectangle 5"/>
          <p:cNvSpPr/>
          <p:nvPr/>
        </p:nvSpPr>
        <p:spPr>
          <a:xfrm>
            <a:off x="822960" y="3273552"/>
            <a:ext cx="5513832" cy="914400"/>
          </a:xfrm>
          <a:prstGeom prst="roundRect">
            <a:avLst>
              <a:gd name="adj" fmla="val 4000"/>
            </a:avLst>
          </a:prstGeom>
          <a:solidFill>
            <a:srgbClr val="EEF2FA"/>
          </a:solidFill>
          <a:ln w="9525">
            <a:solidFill>
              <a:srgbClr val="DCE4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273552"/>
            <a:ext cx="4873752" cy="914400"/>
          </a:xfrm>
          <a:prstGeom prst="rect">
            <a:avLst/>
          </a:prstGeom>
          <a:noFill/>
        </p:spPr>
        <p:txBody>
          <a:bodyPr wrap="square" anchor="ctr" lIns="0" rIns="0" tIns="0" bIns="0">
            <a:spAutoFit/>
          </a:bodyPr>
          <a:lstStyle/>
          <a:p>
            <a:pPr algn="l"/>
            <a:r>
              <a:rPr sz="2600" b="1">
                <a:solidFill>
                  <a:srgbClr val="1B2A4A"/>
                </a:solidFill>
                <a:latin typeface="Courier New"/>
              </a:rPr>
              <a:t>0 / 200,292</a:t>
            </a:r>
          </a:p>
          <a:p>
            <a:pPr algn="l"/>
            <a:r>
              <a:rPr sz="1200">
                <a:solidFill>
                  <a:srgbClr val="93A6C4"/>
                </a:solidFill>
                <a:latin typeface="Arial"/>
              </a:rPr>
              <a:t>traces crossed a verified PKIX peering fabric, full week</a:t>
            </a:r>
          </a:p>
        </p:txBody>
      </p:sp>
      <p:sp>
        <p:nvSpPr>
          <p:cNvPr id="8" name="TextBox 7"/>
          <p:cNvSpPr txBox="1"/>
          <p:nvPr/>
        </p:nvSpPr>
        <p:spPr>
          <a:xfrm>
            <a:off x="822960" y="4343400"/>
            <a:ext cx="5513832" cy="822960"/>
          </a:xfrm>
          <a:prstGeom prst="rect">
            <a:avLst/>
          </a:prstGeom>
          <a:noFill/>
        </p:spPr>
        <p:txBody>
          <a:bodyPr wrap="square" anchor="t" lIns="0" rIns="0" tIns="0" bIns="0">
            <a:spAutoFit/>
          </a:bodyPr>
          <a:lstStyle/>
          <a:p>
            <a:pPr algn="l">
              <a:lnSpc>
                <a:spcPct val="125000"/>
              </a:lnSpc>
            </a:pPr>
            <a:r>
              <a:rPr sz="1300" b="0" i="1">
                <a:solidFill>
                  <a:srgbClr val="93A6C4"/>
                </a:solidFill>
                <a:latin typeface="Arial"/>
              </a:rPr>
              <a:t>ACE CDN and Zenlayer are the only major CDNs peering at any PKIX node.</a:t>
            </a:r>
          </a:p>
        </p:txBody>
      </p:sp>
      <p:sp>
        <p:nvSpPr>
          <p:cNvPr id="9" name="TextBox 8"/>
          <p:cNvSpPr txBox="1"/>
          <p:nvPr/>
        </p:nvSpPr>
        <p:spPr>
          <a:xfrm>
            <a:off x="6793992" y="1719072"/>
            <a:ext cx="4572000" cy="274320"/>
          </a:xfrm>
          <a:prstGeom prst="rect">
            <a:avLst/>
          </a:prstGeom>
          <a:noFill/>
        </p:spPr>
        <p:txBody>
          <a:bodyPr wrap="square" anchor="t" lIns="0" rIns="0" tIns="0" bIns="0">
            <a:spAutoFit/>
          </a:bodyPr>
          <a:lstStyle/>
          <a:p>
            <a:pPr algn="ctr"/>
            <a:r>
              <a:rPr sz="1250" b="1" i="0">
                <a:solidFill>
                  <a:srgbClr val="1B2A4A"/>
                </a:solidFill>
                <a:latin typeface="Arial"/>
              </a:rPr>
              <a:t>PIE Karachi: peering exists, but isn't used</a:t>
            </a:r>
          </a:p>
        </p:txBody>
      </p:sp>
      <p:cxnSp>
        <p:nvCxnSpPr>
          <p:cNvPr id="10" name="Connector 9"/>
          <p:cNvCxnSpPr/>
          <p:nvPr/>
        </p:nvCxnSpPr>
        <p:spPr>
          <a:xfrm flipV="1">
            <a:off x="7708392" y="2752344"/>
            <a:ext cx="868680" cy="795528"/>
          </a:xfrm>
          <a:prstGeom prst="line">
            <a:avLst/>
          </a:prstGeom>
          <a:ln w="19050">
            <a:solidFill>
              <a:srgbClr val="93A6C4"/>
            </a:solidFill>
            <a:prstDash val="sys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582912" y="2752344"/>
            <a:ext cx="868680" cy="795528"/>
          </a:xfrm>
          <a:prstGeom prst="line">
            <a:avLst/>
          </a:prstGeom>
          <a:ln w="19050">
            <a:solidFill>
              <a:srgbClr val="93A6C4"/>
            </a:solidFill>
            <a:prstDash val="sys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91271" y="2121408"/>
            <a:ext cx="2377440" cy="164592"/>
          </a:xfrm>
          <a:prstGeom prst="rect">
            <a:avLst/>
          </a:prstGeom>
          <a:noFill/>
        </p:spPr>
        <p:txBody>
          <a:bodyPr wrap="none" anchor="ctr" lIns="0" rIns="0" tIns="0" bIns="0">
            <a:spAutoFit/>
          </a:bodyPr>
          <a:lstStyle/>
          <a:p>
            <a:pPr algn="ctr"/>
            <a:r>
              <a:rPr sz="900" b="0" i="1">
                <a:solidFill>
                  <a:srgbClr val="93A6C4"/>
                </a:solidFill>
                <a:latin typeface="Arial"/>
              </a:rPr>
              <a:t>650 routes · live BGP session</a:t>
            </a:r>
          </a:p>
        </p:txBody>
      </p:sp>
      <p:sp>
        <p:nvSpPr>
          <p:cNvPr id="13" name="TextBox 12"/>
          <p:cNvSpPr txBox="1"/>
          <p:nvPr/>
        </p:nvSpPr>
        <p:spPr>
          <a:xfrm>
            <a:off x="8257031" y="3118104"/>
            <a:ext cx="1645920" cy="164592"/>
          </a:xfrm>
          <a:prstGeom prst="rect">
            <a:avLst/>
          </a:prstGeom>
          <a:noFill/>
        </p:spPr>
        <p:txBody>
          <a:bodyPr wrap="none" anchor="ctr" lIns="0" rIns="0" tIns="0" bIns="0">
            <a:spAutoFit/>
          </a:bodyPr>
          <a:lstStyle/>
          <a:p>
            <a:pPr algn="ctr"/>
            <a:r>
              <a:rPr sz="900" b="1" i="0">
                <a:solidFill>
                  <a:srgbClr val="C8391F"/>
                </a:solidFill>
                <a:latin typeface="Courier New"/>
              </a:rPr>
              <a:t>0 traces used it</a:t>
            </a:r>
          </a:p>
        </p:txBody>
      </p:sp>
      <p:cxnSp>
        <p:nvCxnSpPr>
          <p:cNvPr id="14" name="Connector 13"/>
          <p:cNvCxnSpPr/>
          <p:nvPr/>
        </p:nvCxnSpPr>
        <p:spPr>
          <a:xfrm>
            <a:off x="8119871" y="3913632"/>
            <a:ext cx="1920241" cy="0"/>
          </a:xfrm>
          <a:prstGeom prst="line">
            <a:avLst/>
          </a:prstGeom>
          <a:ln w="28575">
            <a:solidFill>
              <a:srgbClr val="C83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08392" y="4352544"/>
            <a:ext cx="2743200" cy="164592"/>
          </a:xfrm>
          <a:prstGeom prst="rect">
            <a:avLst/>
          </a:prstGeom>
          <a:noFill/>
        </p:spPr>
        <p:txBody>
          <a:bodyPr wrap="none" anchor="ctr" lIns="0" rIns="0" tIns="0" bIns="0">
            <a:spAutoFit/>
          </a:bodyPr>
          <a:lstStyle/>
          <a:p>
            <a:pPr algn="ctr"/>
            <a:r>
              <a:rPr sz="950" b="1" i="0">
                <a:solidFill>
                  <a:srgbClr val="C8391F"/>
                </a:solidFill>
                <a:latin typeface="Courier New"/>
              </a:rPr>
              <a:t>private link · actual traffic path</a:t>
            </a:r>
          </a:p>
        </p:txBody>
      </p:sp>
      <p:sp>
        <p:nvSpPr>
          <p:cNvPr id="16" name="Rounded Rectangle 15"/>
          <p:cNvSpPr/>
          <p:nvPr/>
        </p:nvSpPr>
        <p:spPr>
          <a:xfrm>
            <a:off x="6885431" y="3611880"/>
            <a:ext cx="1371600" cy="512064"/>
          </a:xfrm>
          <a:prstGeom prst="roundRect">
            <a:avLst>
              <a:gd name="adj" fmla="val 18000"/>
            </a:avLst>
          </a:prstGeom>
          <a:solidFill>
            <a:srgbClr val="EEF2FA"/>
          </a:solidFill>
          <a:ln w="9525">
            <a:solidFill>
              <a:srgbClr val="DCE4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1" y="3611880"/>
            <a:ext cx="1371600" cy="512064"/>
          </a:xfrm>
          <a:prstGeom prst="rect">
            <a:avLst/>
          </a:prstGeom>
          <a:noFill/>
        </p:spPr>
        <p:txBody>
          <a:bodyPr wrap="square" anchor="ctr" lIns="0" rIns="0" tIns="0" bIns="0">
            <a:spAutoFit/>
          </a:bodyPr>
          <a:lstStyle/>
          <a:p>
            <a:pPr algn="ctr"/>
            <a:r>
              <a:rPr sz="1150" b="1" i="0">
                <a:solidFill>
                  <a:srgbClr val="1B2A4A"/>
                </a:solidFill>
                <a:latin typeface="Arial"/>
              </a:rPr>
              <a:t>ISP F</a:t>
            </a:r>
          </a:p>
        </p:txBody>
      </p:sp>
      <p:sp>
        <p:nvSpPr>
          <p:cNvPr id="18" name="Rounded Rectangle 17"/>
          <p:cNvSpPr/>
          <p:nvPr/>
        </p:nvSpPr>
        <p:spPr>
          <a:xfrm>
            <a:off x="8211312" y="2331720"/>
            <a:ext cx="1737360" cy="512064"/>
          </a:xfrm>
          <a:prstGeom prst="roundRect">
            <a:avLst>
              <a:gd name="adj" fmla="val 18000"/>
            </a:avLst>
          </a:prstGeom>
          <a:solidFill>
            <a:srgbClr val="2F5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2331720"/>
            <a:ext cx="1737360" cy="512064"/>
          </a:xfrm>
          <a:prstGeom prst="rect">
            <a:avLst/>
          </a:prstGeom>
          <a:noFill/>
        </p:spPr>
        <p:txBody>
          <a:bodyPr wrap="square" anchor="ctr" lIns="0" rIns="0" tIns="0" bIns="0">
            <a:spAutoFit/>
          </a:bodyPr>
          <a:lstStyle/>
          <a:p>
            <a:pPr algn="ctr"/>
            <a:r>
              <a:rPr sz="1100" b="1" i="0">
                <a:solidFill>
                  <a:srgbClr val="FFFFFF"/>
                </a:solidFill>
                <a:latin typeface="Arial"/>
              </a:rPr>
              <a:t>PIE Karachi (IXP)</a:t>
            </a:r>
          </a:p>
        </p:txBody>
      </p:sp>
      <p:sp>
        <p:nvSpPr>
          <p:cNvPr id="20" name="Rounded Rectangle 19"/>
          <p:cNvSpPr/>
          <p:nvPr/>
        </p:nvSpPr>
        <p:spPr>
          <a:xfrm>
            <a:off x="9902952" y="3611880"/>
            <a:ext cx="1371600" cy="512064"/>
          </a:xfrm>
          <a:prstGeom prst="roundRect">
            <a:avLst>
              <a:gd name="adj" fmla="val 18000"/>
            </a:avLst>
          </a:prstGeom>
          <a:solidFill>
            <a:srgbClr val="EEF2FA"/>
          </a:solidFill>
          <a:ln w="9525">
            <a:solidFill>
              <a:srgbClr val="DCE4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2952" y="3611880"/>
            <a:ext cx="1371600" cy="512064"/>
          </a:xfrm>
          <a:prstGeom prst="rect">
            <a:avLst/>
          </a:prstGeom>
          <a:noFill/>
        </p:spPr>
        <p:txBody>
          <a:bodyPr wrap="square" anchor="ctr" lIns="0" rIns="0" tIns="0" bIns="0">
            <a:spAutoFit/>
          </a:bodyPr>
          <a:lstStyle/>
          <a:p>
            <a:pPr algn="ctr"/>
            <a:r>
              <a:rPr sz="1150" b="1" i="0">
                <a:solidFill>
                  <a:srgbClr val="1B2A4A"/>
                </a:solidFill>
                <a:latin typeface="Arial"/>
              </a:rPr>
              <a:t>ACE CDN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