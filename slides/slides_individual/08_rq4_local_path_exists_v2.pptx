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pairs</c:v>
                </c:pt>
              </c:strCache>
            </c:strRef>
          </c:tx>
          <c:dPt>
            <c:idx val="0"/>
            <c:spPr>
              <a:solidFill>
                <a:srgbClr val="2F5FD1"/>
              </a:solidFill>
              <a:ln w="19050">
                <a:solidFill>
                  <a:srgbClr val="FBFBF9"/>
                </a:solidFill>
              </a:ln>
            </c:spPr>
          </c:dPt>
          <c:dPt>
            <c:idx val="1"/>
            <c:spPr>
              <a:solidFill>
                <a:srgbClr val="EB6834"/>
              </a:solidFill>
              <a:ln w="19050">
                <a:solidFill>
                  <a:srgbClr val="FBFBF9"/>
                </a:solidFill>
              </a:ln>
            </c:spPr>
          </c:dPt>
          <c:dPt>
            <c:idx val="2"/>
            <c:spPr>
              <a:solidFill>
                <a:srgbClr val="C8391F"/>
              </a:solidFill>
              <a:ln w="19050">
                <a:solidFill>
                  <a:srgbClr val="FBFBF9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Never tromboned</c:v>
                </c:pt>
                <c:pt idx="1">
                  <c:v>Sometimes tromboned</c:v>
                </c:pt>
                <c:pt idx="2">
                  <c:v>Always tromboned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415</c:v>
                </c:pt>
                <c:pt idx="1">
                  <c:v>13</c:v>
                </c:pt>
                <c:pt idx="2">
                  <c:v>16</c:v>
                </c:pt>
              </c:numCache>
            </c:numRef>
          </c:val>
        </c:ser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RQ4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13232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A Local Path Exists: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1054303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93A6C4"/>
                </a:solidFill>
                <a:latin typeface="Arial"/>
              </a:rPr>
              <a:t>Real traceroutes to EFU Life (efulife.com), a financial-services site, by ISP.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700784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00784"/>
            <a:ext cx="7772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ISP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719072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719072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Cybernet, AS9541 (PK)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719072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3A4455"/>
                </a:solidFill>
                <a:latin typeface="Courier New"/>
              </a:rPr>
              <a:t>4.1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874520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874520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EFU Life, AS141008 (PK)  · dest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874520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3A4455"/>
                </a:solidFill>
                <a:latin typeface="Courier New"/>
              </a:rPr>
              <a:t>5.7 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121408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C83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121408"/>
            <a:ext cx="7772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ISP 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139696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139696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PTCL, AS17557 (PK)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139696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3A4455"/>
                </a:solidFill>
                <a:latin typeface="Courier New"/>
              </a:rPr>
              <a:t>25.5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2295144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295144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8391F"/>
                </a:solidFill>
                <a:latin typeface="Arial"/>
              </a:rPr>
              <a:t>Omantel, AS8529 (OM)  · leaves PK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295144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8391F"/>
                </a:solidFill>
                <a:latin typeface="Courier New"/>
              </a:rPr>
              <a:t>114.1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2450592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2450592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Cybernet, AS9541 (PK)  · re-enters via ISP A's 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450592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3A4455"/>
                </a:solidFill>
                <a:latin typeface="Courier New"/>
              </a:rPr>
              <a:t>108.7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2606040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2606040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EFU Life, AS141008 (PK)  · dest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606040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3A4455"/>
                </a:solidFill>
                <a:latin typeface="Courier New"/>
              </a:rPr>
              <a:t>109.3 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852928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C83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2852928"/>
            <a:ext cx="7772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ISP 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83080" y="2871216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2871216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Transworld, AS38193 (PK)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871216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3A4455"/>
                </a:solidFill>
                <a:latin typeface="Courier New"/>
              </a:rPr>
              <a:t>4.9 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3026664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026664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8391F"/>
                </a:solidFill>
                <a:latin typeface="Arial"/>
              </a:rPr>
              <a:t>Equinix, AS? (SG)  · leaves PK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026664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8391F"/>
                </a:solidFill>
                <a:latin typeface="Courier New"/>
              </a:rPr>
              <a:t>100.6 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83080" y="3182112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3182112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Cybernet, AS9541 (PK)  · re-enters via ISP A's edge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182112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3A4455"/>
                </a:solidFill>
                <a:latin typeface="Courier New"/>
              </a:rPr>
              <a:t>118.3 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3337560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3337560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EFU Life, AS141008 (PK)  · dest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337560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3A4455"/>
                </a:solidFill>
                <a:latin typeface="Courier New"/>
              </a:rPr>
              <a:t>98.7 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3584448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C83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3584448"/>
            <a:ext cx="77724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ourier New"/>
              </a:rPr>
              <a:t>ISP 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3080" y="3602736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3602736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Transworld, AS38193 (PK)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3602736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3A4455"/>
                </a:solidFill>
                <a:latin typeface="Courier New"/>
              </a:rPr>
              <a:t>0.7 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83080" y="3758184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3758184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8391F"/>
                </a:solidFill>
                <a:latin typeface="Arial"/>
              </a:rPr>
              <a:t>Equinix, AS? (SG)  · leaves PK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3758184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C8391F"/>
                </a:solidFill>
                <a:latin typeface="Courier New"/>
              </a:rPr>
              <a:t>155.5 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3080" y="3913632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0" y="3913632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Cybernet, AS9541 (PK)  · re-enters via ISP A's edge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3913632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3A4455"/>
                </a:solidFill>
                <a:latin typeface="Courier New"/>
              </a:rPr>
              <a:t>167.8 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83080" y="4069080"/>
            <a:ext cx="50292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3A6C4"/>
                </a:solidFill>
                <a:latin typeface="Courier New"/>
              </a:rPr>
              <a:t>hop 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86000" y="4069080"/>
            <a:ext cx="630936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A4455"/>
                </a:solidFill>
                <a:latin typeface="Arial"/>
              </a:rPr>
              <a:t>EFU Life, AS141008 (PK)  · dest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4069080"/>
            <a:ext cx="914400" cy="1463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3A4455"/>
                </a:solidFill>
                <a:latin typeface="Courier New"/>
              </a:rPr>
              <a:t>166.6 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" y="4334255"/>
            <a:ext cx="105430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A"/>
                </a:solidFill>
                <a:latin typeface="Arial"/>
              </a:rPr>
              <a:t>Every detour still re-enters Pakistan through the same Cybernet (ISP A) edge before reaching EFU Life. There is no other domestic door to it.</a:t>
            </a:r>
          </a:p>
        </p:txBody>
      </p:sp>
      <p:graphicFrame>
        <p:nvGraphicFramePr>
          <p:cNvPr id="59" name="Chart 58"/>
          <p:cNvGraphicFramePr>
            <a:graphicFrameLocks noGrp="1"/>
          </p:cNvGraphicFramePr>
          <p:nvPr/>
        </p:nvGraphicFramePr>
        <p:xfrm>
          <a:off x="822960" y="5422392"/>
          <a:ext cx="1417320" cy="1325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822960" y="5422392"/>
            <a:ext cx="141732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ourier New"/>
              </a:rPr>
              <a:t>444</a:t>
            </a:r>
          </a:p>
          <a:p>
            <a:pPr algn="ctr"/>
            <a:r>
              <a:rPr sz="800">
                <a:solidFill>
                  <a:srgbClr val="93A6C4"/>
                </a:solidFill>
                <a:latin typeface="Arial"/>
              </a:rPr>
              <a:t>pairs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468880" y="5532119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2F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06624" y="5477255"/>
            <a:ext cx="3163824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Arial"/>
              </a:rPr>
              <a:t>Never tromboned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06624" y="5660136"/>
            <a:ext cx="316382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3A6C4"/>
                </a:solidFill>
                <a:latin typeface="Courier New"/>
              </a:rPr>
              <a:t>415 of 444 pairs  (93.5%)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468880" y="5916167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06624" y="5861303"/>
            <a:ext cx="3163824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Arial"/>
              </a:rPr>
              <a:t>Sometimes tromboned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06624" y="6044183"/>
            <a:ext cx="316382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3A6C4"/>
                </a:solidFill>
                <a:latin typeface="Courier New"/>
              </a:rPr>
              <a:t>13 of 444 pairs  (2.9%)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68880" y="6300215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C83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06624" y="6245351"/>
            <a:ext cx="3163824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B2A4A"/>
                </a:solidFill>
                <a:latin typeface="Arial"/>
              </a:rPr>
              <a:t>Always tromboned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06624" y="6428231"/>
            <a:ext cx="316382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3A6C4"/>
                </a:solidFill>
                <a:latin typeface="Courier New"/>
              </a:rPr>
              <a:t>16 of 444 pairs  (3.6%)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