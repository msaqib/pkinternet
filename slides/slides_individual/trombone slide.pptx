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Courier New" charset="1" panose="02070309020205020404"/>
      <p:regular r:id="rId7"/>
    </p:embeddedFont>
    <p:embeddedFont>
      <p:font typeface="Georgia Bold" charset="1" panose="02040802050405020203"/>
      <p:regular r:id="rId8"/>
    </p:embeddedFont>
    <p:embeddedFont>
      <p:font typeface="Arial" charset="1" panose="020B0604020202020204"/>
      <p:regular r:id="rId9"/>
    </p:embeddedFont>
    <p:embeddedFont>
      <p:font typeface="Courier New Bold" charset="1" panose="02070609020205020404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26842" y="722528"/>
            <a:ext cx="5994149" cy="357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93A6C4"/>
                </a:solidFill>
                <a:latin typeface="Courier New"/>
                <a:ea typeface="Courier New"/>
                <a:cs typeface="Courier New"/>
                <a:sym typeface="Courier New"/>
              </a:rPr>
              <a:t>RQ3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26842" y="1116406"/>
            <a:ext cx="15648146" cy="938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1B2A4A"/>
                </a:solidFill>
                <a:latin typeface="Georgia Bold"/>
                <a:ea typeface="Georgia Bold"/>
                <a:cs typeface="Georgia Bold"/>
                <a:sym typeface="Georgia Bold"/>
              </a:rPr>
              <a:t>Tromboning Cost: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28258" y="2573474"/>
            <a:ext cx="8021098" cy="3034178"/>
            <a:chOff x="0" y="0"/>
            <a:chExt cx="10694797" cy="40455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694797" cy="4045583"/>
            </a:xfrm>
            <a:custGeom>
              <a:avLst/>
              <a:gdLst/>
              <a:ahLst/>
              <a:cxnLst/>
              <a:rect r="r" b="b" t="t" l="l"/>
              <a:pathLst>
                <a:path h="4045583" w="10694797">
                  <a:moveTo>
                    <a:pt x="0" y="161798"/>
                  </a:moveTo>
                  <a:cubicBezTo>
                    <a:pt x="0" y="72390"/>
                    <a:pt x="72390" y="0"/>
                    <a:pt x="161798" y="0"/>
                  </a:cubicBezTo>
                  <a:lnTo>
                    <a:pt x="10532999" y="0"/>
                  </a:lnTo>
                  <a:cubicBezTo>
                    <a:pt x="10622407" y="0"/>
                    <a:pt x="10694797" y="72390"/>
                    <a:pt x="10694797" y="161798"/>
                  </a:cubicBezTo>
                  <a:lnTo>
                    <a:pt x="10694797" y="3883785"/>
                  </a:lnTo>
                  <a:cubicBezTo>
                    <a:pt x="10694797" y="3973194"/>
                    <a:pt x="10622407" y="4045583"/>
                    <a:pt x="10532999" y="4045583"/>
                  </a:cubicBezTo>
                  <a:lnTo>
                    <a:pt x="161798" y="4045583"/>
                  </a:lnTo>
                  <a:cubicBezTo>
                    <a:pt x="72390" y="4045583"/>
                    <a:pt x="0" y="3973066"/>
                    <a:pt x="0" y="3883785"/>
                  </a:cubicBezTo>
                  <a:close/>
                </a:path>
              </a:pathLst>
            </a:custGeom>
            <a:solidFill>
              <a:srgbClr val="EEF2FA"/>
            </a:solidFill>
            <a:ln w="14299" cap="sq">
              <a:solidFill>
                <a:srgbClr val="DCE4F3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0694797" cy="41122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152"/>
                </a:lnSpc>
              </a:pPr>
              <a:r>
                <a:rPr lang="en-US" sz="2101">
                  <a:solidFill>
                    <a:srgbClr val="3A4455"/>
                  </a:solidFill>
                  <a:latin typeface="Arial"/>
                  <a:ea typeface="Arial"/>
                  <a:cs typeface="Arial"/>
                  <a:sym typeface="Arial"/>
                </a:rPr>
                <a:t>Local traces to Pakistani-hosted sites run a median 25.1 ms; tromboned traces to the same class run 118.0 ms. This pools two different site populations, so it isn't a causal estimate. For the 4 sites reached both locally and via detour by different vantage points, avoiding the detour would cut RTT by 56%, a median saving of 75 ms, across 12 comparable pairs.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28258" y="6122002"/>
            <a:ext cx="8021098" cy="1318336"/>
            <a:chOff x="0" y="0"/>
            <a:chExt cx="10694797" cy="175778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94670" cy="1757680"/>
            </a:xfrm>
            <a:custGeom>
              <a:avLst/>
              <a:gdLst/>
              <a:ahLst/>
              <a:cxnLst/>
              <a:rect r="r" b="b" t="t" l="l"/>
              <a:pathLst>
                <a:path h="1757680" w="10694670">
                  <a:moveTo>
                    <a:pt x="0" y="105410"/>
                  </a:moveTo>
                  <a:cubicBezTo>
                    <a:pt x="0" y="47244"/>
                    <a:pt x="47244" y="0"/>
                    <a:pt x="105410" y="0"/>
                  </a:cubicBezTo>
                  <a:lnTo>
                    <a:pt x="10589260" y="0"/>
                  </a:lnTo>
                  <a:cubicBezTo>
                    <a:pt x="10647553" y="0"/>
                    <a:pt x="10694670" y="47244"/>
                    <a:pt x="10694670" y="105410"/>
                  </a:cubicBezTo>
                  <a:lnTo>
                    <a:pt x="10694670" y="1652270"/>
                  </a:lnTo>
                  <a:cubicBezTo>
                    <a:pt x="10694670" y="1710563"/>
                    <a:pt x="10647426" y="1757680"/>
                    <a:pt x="10589260" y="1757680"/>
                  </a:cubicBezTo>
                  <a:lnTo>
                    <a:pt x="105410" y="1757680"/>
                  </a:lnTo>
                  <a:cubicBezTo>
                    <a:pt x="47117" y="1757680"/>
                    <a:pt x="0" y="1710436"/>
                    <a:pt x="0" y="1652270"/>
                  </a:cubicBezTo>
                  <a:close/>
                </a:path>
              </a:pathLst>
            </a:custGeom>
            <a:solidFill>
              <a:srgbClr val="EEF2FA"/>
            </a:solidFill>
            <a:ln w="14299" cap="sq">
              <a:solidFill>
                <a:srgbClr val="DCE4F3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0694797" cy="17673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4683"/>
                </a:lnSpc>
              </a:pPr>
              <a:r>
                <a:rPr lang="en-US" sz="3903" b="true">
                  <a:solidFill>
                    <a:srgbClr val="1B2A4A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25.1 / 118.0 ms</a:t>
              </a:r>
            </a:p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93A6C4"/>
                  </a:solidFill>
                  <a:latin typeface="Arial"/>
                  <a:ea typeface="Arial"/>
                  <a:cs typeface="Arial"/>
                  <a:sym typeface="Arial"/>
                </a:rPr>
                <a:t>local vs tromboned median RTT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928536" y="2580627"/>
            <a:ext cx="7137892" cy="4362050"/>
            <a:chOff x="0" y="0"/>
            <a:chExt cx="9517190" cy="5816067"/>
          </a:xfrm>
        </p:grpSpPr>
        <p:sp>
          <p:nvSpPr>
            <p:cNvPr name="Freeform 11" id="11" descr="fig_local_vs_trombone_cdf.png"/>
            <p:cNvSpPr/>
            <p:nvPr/>
          </p:nvSpPr>
          <p:spPr>
            <a:xfrm flipH="false" flipV="false" rot="0">
              <a:off x="0" y="0"/>
              <a:ext cx="9517253" cy="5816092"/>
            </a:xfrm>
            <a:custGeom>
              <a:avLst/>
              <a:gdLst/>
              <a:ahLst/>
              <a:cxnLst/>
              <a:rect r="r" b="b" t="t" l="l"/>
              <a:pathLst>
                <a:path h="5816092" w="9517253">
                  <a:moveTo>
                    <a:pt x="0" y="0"/>
                  </a:moveTo>
                  <a:lnTo>
                    <a:pt x="9517253" y="0"/>
                  </a:lnTo>
                  <a:lnTo>
                    <a:pt x="9517253" y="5816092"/>
                  </a:lnTo>
                  <a:lnTo>
                    <a:pt x="0" y="5816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DAHQmNCR0fo</dc:identifier>
  <dcterms:modified xsi:type="dcterms:W3CDTF">2011-08-01T06:04:30Z</dcterms:modified>
  <cp:revision>1</cp:revision>
  <dc:title>Local Path Project</dc:title>
</cp:coreProperties>
</file>