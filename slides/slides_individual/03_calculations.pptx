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B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2A4A"/>
                </a:solidFill>
                <a:latin typeface="Georgia"/>
              </a:rPr>
              <a:t>Calculations: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LATENCY RATIO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1770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5564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Physics floor: </a:t>
            </a:r>
            <a:r>
              <a:rPr sz="1500">
                <a:solidFill>
                  <a:srgbClr val="3A4455"/>
                </a:solidFill>
                <a:latin typeface="Arial"/>
              </a:rPr>
              <a:t>fastest RTT the distance allows, at the speed of light in fiber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78638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62432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PK / Abroad sites: </a:t>
            </a:r>
            <a:r>
              <a:rPr sz="1500">
                <a:solidFill>
                  <a:srgbClr val="3A4455"/>
                </a:solidFill>
                <a:latin typeface="Arial"/>
              </a:rPr>
              <a:t>floor from straight-line probe-to-server distance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5506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49300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CDN sites: </a:t>
            </a:r>
            <a:r>
              <a:rPr sz="1500">
                <a:solidFill>
                  <a:srgbClr val="3A4455"/>
                </a:solidFill>
                <a:latin typeface="Arial"/>
              </a:rPr>
              <a:t>floor is the best RTT any of our probes achieved to that site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212080"/>
            <a:ext cx="4998567" cy="100584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ratio = RTT / floor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1x = physical limit, k = k times slower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137160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3A6C4"/>
                </a:solidFill>
                <a:latin typeface="Courier New"/>
              </a:rPr>
              <a:t>TROMBONING CLASSIFICATION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6370167" y="191770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1335" y="175564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Scope: </a:t>
            </a:r>
            <a:r>
              <a:rPr sz="1500">
                <a:solidFill>
                  <a:srgbClr val="3A4455"/>
                </a:solidFill>
                <a:latin typeface="Arial"/>
              </a:rPr>
              <a:t>Pakistani-hosted sites only; CDN/Abroad expected to exit anyway</a:t>
            </a:r>
          </a:p>
        </p:txBody>
      </p:sp>
      <p:sp>
        <p:nvSpPr>
          <p:cNvPr id="14" name="Oval 13"/>
          <p:cNvSpPr/>
          <p:nvPr/>
        </p:nvSpPr>
        <p:spPr>
          <a:xfrm>
            <a:off x="6370167" y="278638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1335" y="262432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Rule: </a:t>
            </a:r>
            <a:r>
              <a:rPr sz="1500">
                <a:solidFill>
                  <a:srgbClr val="3A4455"/>
                </a:solidFill>
                <a:latin typeface="Arial"/>
              </a:rPr>
              <a:t>tromboned if any hop belongs to a foreign-registered network</a:t>
            </a:r>
          </a:p>
        </p:txBody>
      </p:sp>
      <p:sp>
        <p:nvSpPr>
          <p:cNvPr id="16" name="Oval 15"/>
          <p:cNvSpPr/>
          <p:nvPr/>
        </p:nvSpPr>
        <p:spPr>
          <a:xfrm>
            <a:off x="6370167" y="3655060"/>
            <a:ext cx="63500" cy="63500"/>
          </a:xfrm>
          <a:prstGeom prst="ellipse">
            <a:avLst/>
          </a:prstGeom>
          <a:solidFill>
            <a:srgbClr val="2F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1335" y="3493008"/>
            <a:ext cx="479739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1B2A4A"/>
                </a:solidFill>
                <a:latin typeface="Arial"/>
              </a:rPr>
              <a:t>Exceptions: </a:t>
            </a:r>
            <a:r>
              <a:rPr sz="1500">
                <a:solidFill>
                  <a:srgbClr val="3A4455"/>
                </a:solidFill>
                <a:latin typeface="Arial"/>
              </a:rPr>
              <a:t>Shaw Communications &amp; Cogent IPs, foreign-registered but confirmed inside Pakistan by RTT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70167" y="5212080"/>
            <a:ext cx="4998567" cy="100584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 w="9525">
            <a:solidFill>
              <a:srgbClr val="DCE4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8016"/>
          <a:lstStyle/>
          <a:p>
            <a:pPr algn="l"/>
            <a:r>
              <a:rPr sz="2600" b="1">
                <a:solidFill>
                  <a:srgbClr val="1B2A4A"/>
                </a:solidFill>
                <a:latin typeface="Courier New"/>
              </a:rPr>
              <a:t>40 ms</a:t>
            </a:r>
          </a:p>
          <a:p>
            <a:pPr algn="l"/>
            <a:r>
              <a:rPr sz="1200">
                <a:solidFill>
                  <a:srgbClr val="93A6C4"/>
                </a:solidFill>
                <a:latin typeface="Arial"/>
              </a:rPr>
              <a:t>minimum RTT to count a hop as foreign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