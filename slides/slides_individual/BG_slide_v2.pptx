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RTT (ms)</c:v>
                </c:pt>
              </c:strCache>
            </c:strRef>
          </c:tx>
          <c:spPr>
            <a:ln w="28575">
              <a:solidFill>
                <a:srgbClr val="174BA6"/>
              </a:solidFill>
            </a:ln>
          </c:spPr>
          <c:marker>
            <c:symbol val="circle"/>
            <c:size val="6"/>
            <c:spPr>
              <a:solidFill>
                <a:srgbClr val="174BA6"/>
              </a:solidFill>
              <a:ln>
                <a:solidFill>
                  <a:srgbClr val="174BA6"/>
                </a:solidFill>
              </a:ln>
            </c:spPr>
          </c:marker>
          <c:dPt>
            <c:idx val="4"/>
            <c:marker>
              <c:size val="8"/>
              <c:spPr>
                <a:solidFill>
                  <a:srgbClr val="C8391F"/>
                </a:solidFill>
                <a:ln>
                  <a:solidFill>
                    <a:srgbClr val="C8391F"/>
                  </a:solidFill>
                </a:ln>
              </c:spPr>
            </c:marke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C8391F"/>
                        </a:solidFill>
                        <a:latin typeface="Calibri"/>
                      </a:rPr>
                      <a:t>peak 324 ms · loss 7.3%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28 Jun</c:v>
                </c:pt>
                <c:pt idx="1">
                  <c:v>29 Jun</c:v>
                </c:pt>
                <c:pt idx="2">
                  <c:v>30 Jun</c:v>
                </c:pt>
                <c:pt idx="3">
                  <c:v>1 Jul</c:v>
                </c:pt>
                <c:pt idx="4">
                  <c:v>2 Jul</c:v>
                </c:pt>
                <c:pt idx="5">
                  <c:v>3 Jul</c:v>
                </c:pt>
                <c:pt idx="6">
                  <c:v>4 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176.4</c:v>
                </c:pt>
                <c:pt idx="1">
                  <c:v>176.2</c:v>
                </c:pt>
                <c:pt idx="2">
                  <c:v>176.8</c:v>
                </c:pt>
                <c:pt idx="3">
                  <c:v>177.0</c:v>
                </c:pt>
                <c:pt idx="4">
                  <c:v>211.2</c:v>
                </c:pt>
                <c:pt idx="5">
                  <c:v>173.4</c:v>
                </c:pt>
                <c:pt idx="6">
                  <c:v>175.5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AF7"/>
            </a:solidFill>
          </a:ln>
        </c:spPr>
        <c:txPr>
          <a:bodyPr/>
          <a:lstStyle/>
          <a:p>
            <a:pPr>
              <a:defRPr sz="800">
                <a:solidFill>
                  <a:srgbClr val="5B769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25.0"/>
          <c:min val="165.0"/>
        </c:scaling>
        <c:delete val="0"/>
        <c:axPos val="l"/>
        <c:majorGridlines>
          <c:spPr>
            <a:ln w="6350">
              <a:solidFill>
                <a:srgbClr val="E2EAF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>
                    <a:solidFill>
                      <a:srgbClr val="93A6C4"/>
                    </a:solidFill>
                    <a:latin typeface="Arial"/>
                  </a:rPr>
                  <a:t>Median RTT (ms)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5B7699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2545"/>
                </a:solidFill>
                <a:latin typeface="Georgia"/>
              </a:rPr>
              <a:t>Background: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96012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074920" cy="86868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62456"/>
            <a:ext cx="4672583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150M+ broadband users, 7 submarine cables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325E"/>
                </a:solidFill>
                <a:latin typeface="Calibri"/>
              </a:rPr>
              <a:t>8 cable faults reported since 2024.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9424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4672583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77 registered ISPs, 4 exchange points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325E"/>
                </a:solidFill>
                <a:latin typeface="Calibri"/>
              </a:rPr>
              <a:t>PKIX (Lahore, Karachi, Islamabad) plus PIE Karachi on DE-CIX. Peering cuts inter-ISP latency from 100 to 144 ms down to 1 to 31 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47288"/>
            <a:ext cx="5074920" cy="2770632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3575304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C8391F"/>
                </a:solidFill>
                <a:latin typeface="Calibri"/>
              </a:rPr>
              <a:t>PREVIEW OF OUR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67912"/>
            <a:ext cx="467258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SMW5 cable fault, 2 Jul 2026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325E"/>
                </a:solidFill>
                <a:latin typeface="Calibri"/>
              </a:rPr>
              <a:t>PTA confirmed the fault. RIPE Atlas anchor data shows the impact directly.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" y="4526280"/>
          <a:ext cx="4800600" cy="15270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2" name="Picture 11" descr="fig_gateway_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90020"/>
            <a:ext cx="5833872" cy="27923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B7699"/>
                </a:solidFill>
                <a:latin typeface="Calibri"/>
              </a:rPr>
              <a:t>Sources: PTA "Pakistan Peering Roadshow" (Ahmed Bakht Baloch, Director Cybersecurity PTA, 12 May 2026) · PTA "List of Operators" (pta.gov.pk, accessed 30 Aug 2026) · PACRA FY23 gateway capacity report · RIPE Atlas anchor mesh, 28 Jun–4 Jul 2026 (Exp 06.1.1)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