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6400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3400" b="1">
                <a:solidFill>
                  <a:srgbClr val="0B2545"/>
                </a:solidFill>
                <a:latin typeface="Georgia"/>
              </a:rPr>
              <a:t>Website Selection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21207" y="960120"/>
            <a:ext cx="822960" cy="64008"/>
          </a:xfrm>
          <a:prstGeom prst="roundRect">
            <a:avLst>
              <a:gd name="adj" fmla="val 50000"/>
            </a:avLst>
          </a:prstGeom>
          <a:solidFill>
            <a:srgbClr val="174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91440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B2545"/>
                </a:solidFill>
                <a:latin typeface="Calibri"/>
              </a:rPr>
              <a:t>Pakistan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1252728"/>
            <a:ext cx="2331720" cy="219456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63040" y="1252728"/>
            <a:ext cx="2215134" cy="21945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67912" y="1234440"/>
            <a:ext cx="45720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B2545"/>
                </a:solidFill>
                <a:latin typeface="Calibri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91440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B2545"/>
                </a:solidFill>
                <a:latin typeface="Calibri"/>
              </a:rPr>
              <a:t>CDN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1591056"/>
            <a:ext cx="2331720" cy="219456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63040" y="1591056"/>
            <a:ext cx="2331720" cy="219456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67912" y="1572768"/>
            <a:ext cx="45720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B2545"/>
                </a:solidFill>
                <a:latin typeface="Calibri"/>
              </a:rPr>
              <a:t>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11096"/>
            <a:ext cx="91440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0B2545"/>
                </a:solidFill>
                <a:latin typeface="Calibri"/>
              </a:rPr>
              <a:t>Abroad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0" y="1929384"/>
            <a:ext cx="2331720" cy="219456"/>
          </a:xfrm>
          <a:prstGeom prst="rect">
            <a:avLst/>
          </a:prstGeom>
          <a:solidFill>
            <a:srgbClr val="EEF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63040" y="1929384"/>
            <a:ext cx="1165860" cy="219456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67912" y="1911096"/>
            <a:ext cx="45720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B2545"/>
                </a:solidFill>
                <a:latin typeface="Calibri"/>
              </a:rPr>
              <a:t>20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395728"/>
            <a:ext cx="4572000" cy="1024128"/>
          </a:xfrm>
          <a:prstGeom prst="roundRect">
            <a:avLst>
              <a:gd name="adj" fmla="val 6000"/>
            </a:avLst>
          </a:prstGeom>
          <a:solidFill>
            <a:srgbClr val="F6F9FD"/>
          </a:solidFill>
          <a:ln w="9525">
            <a:solidFill>
              <a:srgbClr val="E2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514600"/>
            <a:ext cx="420624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B2545"/>
                </a:solidFill>
                <a:latin typeface="Calibri"/>
              </a:rPr>
              <a:t>98 sites, 3 hosting classes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6325E"/>
                </a:solidFill>
                <a:latin typeface="Calibri"/>
              </a:rPr>
              <a:t>Sampled from Tranco's top-1M .pk sites plus CISA sector sources.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547872"/>
            <a:ext cx="4572000" cy="1024128"/>
          </a:xfrm>
          <a:prstGeom prst="roundRect">
            <a:avLst>
              <a:gd name="adj" fmla="val 6000"/>
            </a:avLst>
          </a:prstGeom>
          <a:solidFill>
            <a:srgbClr val="F6F9FD"/>
          </a:solidFill>
          <a:ln w="9525">
            <a:solidFill>
              <a:srgbClr val="E2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666744"/>
            <a:ext cx="420624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B2545"/>
                </a:solidFill>
                <a:latin typeface="Calibri"/>
              </a:rPr>
              <a:t>Classified by owning ASN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6325E"/>
                </a:solidFill>
                <a:latin typeface="Calibri"/>
              </a:rPr>
              <a:t>Each site's IP maps to a Pakistani ASN, a CDN ASN, or neither.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700016"/>
            <a:ext cx="4572000" cy="1024128"/>
          </a:xfrm>
          <a:prstGeom prst="roundRect">
            <a:avLst>
              <a:gd name="adj" fmla="val 6000"/>
            </a:avLst>
          </a:prstGeom>
          <a:solidFill>
            <a:srgbClr val="F6F9FD"/>
          </a:solidFill>
          <a:ln w="9525">
            <a:solidFill>
              <a:srgbClr val="E2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818888"/>
            <a:ext cx="4206240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B2545"/>
                </a:solidFill>
                <a:latin typeface="Calibri"/>
              </a:rPr>
              <a:t>Hosting is concentrated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6325E"/>
                </a:solidFill>
                <a:latin typeface="Calibri"/>
              </a:rPr>
              <a:t>Cloudflare leads CDN hosting. PTCL and HEC lead Pakistani hosting.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1234440"/>
            <a:ext cx="6382512" cy="5303520"/>
          </a:xfrm>
          <a:prstGeom prst="roundRect">
            <a:avLst>
              <a:gd name="adj" fmla="val 6000"/>
            </a:avLst>
          </a:prstGeom>
          <a:solidFill>
            <a:srgbClr val="F6F9FD"/>
          </a:solidFill>
          <a:ln w="9525">
            <a:solidFill>
              <a:srgbClr val="E2E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32120" y="1380744"/>
            <a:ext cx="59253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0B2545"/>
                </a:solidFill>
                <a:latin typeface="Calibri"/>
              </a:rPr>
              <a:t>Sampled sites by CISA sector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32120" y="1719072"/>
            <a:ext cx="100584" cy="10058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78424" y="1673352"/>
            <a:ext cx="1005840" cy="1828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7699"/>
                </a:solidFill>
                <a:latin typeface="Calibri"/>
              </a:rPr>
              <a:t>Pakistani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1719072"/>
            <a:ext cx="100584" cy="10058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12864" y="1673352"/>
            <a:ext cx="1005840" cy="1828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7699"/>
                </a:solidFill>
                <a:latin typeface="Calibri"/>
              </a:rPr>
              <a:t>CDN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01000" y="1719072"/>
            <a:ext cx="100584" cy="100584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47304" y="1673352"/>
            <a:ext cx="1005840" cy="1828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5B7699"/>
                </a:solidFill>
                <a:latin typeface="Calibri"/>
              </a:rPr>
              <a:t>Abroad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2002536"/>
            <a:ext cx="1691640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6325E"/>
                </a:solidFill>
                <a:latin typeface="Calibri"/>
              </a:rPr>
              <a:t>Commercial Facilities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78624" y="2112264"/>
            <a:ext cx="977525" cy="1645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67121" y="2112264"/>
            <a:ext cx="1067388" cy="16459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345483" y="2112264"/>
            <a:ext cx="528207" cy="164592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76104" y="2002536"/>
            <a:ext cx="365760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B2545"/>
                </a:solidFill>
                <a:latin typeface="Calibri"/>
              </a:rPr>
              <a:t>58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41864" y="2002536"/>
            <a:ext cx="1051560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7699"/>
                </a:solidFill>
                <a:latin typeface="Calibri"/>
              </a:rPr>
              <a:t>(pool 1,236)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2120" y="2510028"/>
            <a:ext cx="1691640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6325E"/>
                </a:solidFill>
                <a:latin typeface="Calibri"/>
              </a:rPr>
              <a:t>Govt. Services &amp; Facilities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78624" y="2619756"/>
            <a:ext cx="168754" cy="1645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58350" y="2619756"/>
            <a:ext cx="213685" cy="16459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683009" y="2619756"/>
            <a:ext cx="78890" cy="164592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76104" y="2510028"/>
            <a:ext cx="365760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B2545"/>
                </a:solidFill>
                <a:latin typeface="Calibri"/>
              </a:rPr>
              <a:t>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41864" y="2510028"/>
            <a:ext cx="1051560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7699"/>
                </a:solidFill>
                <a:latin typeface="Calibri"/>
              </a:rPr>
              <a:t>(pool 182)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32120" y="3017520"/>
            <a:ext cx="1691640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6325E"/>
                </a:solidFill>
                <a:latin typeface="Calibri"/>
              </a:rPr>
              <a:t>Education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78624" y="3127248"/>
            <a:ext cx="168754" cy="1645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458350" y="3127248"/>
            <a:ext cx="168754" cy="16459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638077" y="3127248"/>
            <a:ext cx="78890" cy="164592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76104" y="3017520"/>
            <a:ext cx="365760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B2545"/>
                </a:solidFill>
                <a:latin typeface="Calibri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41864" y="3017520"/>
            <a:ext cx="1051560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7699"/>
                </a:solidFill>
                <a:latin typeface="Calibri"/>
              </a:rPr>
              <a:t>(pool 177)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32120" y="3525011"/>
            <a:ext cx="1691640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6325E"/>
                </a:solidFill>
                <a:latin typeface="Calibri"/>
              </a:rPr>
              <a:t>Communications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78624" y="3634739"/>
            <a:ext cx="123822" cy="1645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413419" y="3634739"/>
            <a:ext cx="123822" cy="16459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548214" y="3634739"/>
            <a:ext cx="33958" cy="164592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76104" y="3525011"/>
            <a:ext cx="365760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B2545"/>
                </a:solidFill>
                <a:latin typeface="Calibri"/>
              </a:rPr>
              <a:t>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41864" y="3525011"/>
            <a:ext cx="1051560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7699"/>
                </a:solidFill>
                <a:latin typeface="Calibri"/>
              </a:rPr>
              <a:t>(pool 138)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32120" y="4032503"/>
            <a:ext cx="1691640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6325E"/>
                </a:solidFill>
                <a:latin typeface="Calibri"/>
              </a:rPr>
              <a:t>Financial Services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278624" y="4142231"/>
            <a:ext cx="78890" cy="1645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368487" y="4142231"/>
            <a:ext cx="33958" cy="16459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413419" y="4142231"/>
            <a:ext cx="33958" cy="164592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976104" y="4032503"/>
            <a:ext cx="365760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B2545"/>
                </a:solidFill>
                <a:latin typeface="Calibri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41864" y="4032503"/>
            <a:ext cx="1051560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7699"/>
                </a:solidFill>
                <a:latin typeface="Calibri"/>
              </a:rPr>
              <a:t>(pool 42)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32120" y="4539995"/>
            <a:ext cx="1691640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6325E"/>
                </a:solidFill>
                <a:latin typeface="Calibri"/>
              </a:rPr>
              <a:t>Healthcare &amp; Public Health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278624" y="4649723"/>
            <a:ext cx="33958" cy="1645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323555" y="4649723"/>
            <a:ext cx="33958" cy="16459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368487" y="4649723"/>
            <a:ext cx="33958" cy="164592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976104" y="4539995"/>
            <a:ext cx="365760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B2545"/>
                </a:solidFill>
                <a:latin typeface="Calibri"/>
              </a:rP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341864" y="4539995"/>
            <a:ext cx="1051560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7699"/>
                </a:solidFill>
                <a:latin typeface="Calibri"/>
              </a:rPr>
              <a:t>(pool 18)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32120" y="5047487"/>
            <a:ext cx="1691640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6325E"/>
                </a:solidFill>
                <a:latin typeface="Calibri"/>
              </a:rPr>
              <a:t>Energy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278624" y="5157215"/>
            <a:ext cx="33958" cy="1645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323555" y="5157215"/>
            <a:ext cx="33958" cy="16459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68487" y="5157215"/>
            <a:ext cx="33958" cy="164592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976104" y="5047487"/>
            <a:ext cx="365760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B2545"/>
                </a:solidFill>
                <a:latin typeface="Calibri"/>
              </a:rPr>
              <a:t>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41864" y="5047487"/>
            <a:ext cx="1051560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7699"/>
                </a:solidFill>
                <a:latin typeface="Calibri"/>
              </a:rPr>
              <a:t>(pool 11)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532120" y="5554979"/>
            <a:ext cx="1691640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6325E"/>
                </a:solidFill>
                <a:latin typeface="Calibri"/>
              </a:rPr>
              <a:t>Transportation Systems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278624" y="5664707"/>
            <a:ext cx="33958" cy="1645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323555" y="5664707"/>
            <a:ext cx="33958" cy="16459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976104" y="5554979"/>
            <a:ext cx="365760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B2545"/>
                </a:solidFill>
                <a:latin typeface="Calibri"/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341864" y="5554979"/>
            <a:ext cx="1051560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50" b="0">
                <a:solidFill>
                  <a:srgbClr val="5B7699"/>
                </a:solidFill>
                <a:latin typeface="Calibri"/>
              </a:rPr>
              <a:t>(pool 10)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2920" y="656539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5B7699"/>
                </a:solidFill>
                <a:latin typeface="Calibri"/>
              </a:rPr>
              <a:t>Source: this paper, Table 1 (candidate pool and sampled sites by CISA sector, n = 98 of 1,814 pool).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