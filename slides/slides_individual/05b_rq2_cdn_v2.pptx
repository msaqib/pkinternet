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41148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A6C4"/>
                </a:solidFill>
                <a:latin typeface="Courier New"/>
              </a:rPr>
              <a:t>RQ2 · SAME-CITY LATENCY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3032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CDN Content: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53312"/>
            <a:ext cx="10543032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93A6C4"/>
                </a:solidFill>
                <a:latin typeface="Arial"/>
              </a:rPr>
              <a:t>Median RTT per ISP to CDN-hosted sites, with % reached from a local cache.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343655" cy="315468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039112"/>
            <a:ext cx="2831591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ourier New"/>
              </a:rPr>
              <a:t>Karachi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404872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4455"/>
                </a:solidFill>
                <a:latin typeface="Arial"/>
              </a:rPr>
              <a:t>ISP A   4.4 ms  (61.5% local)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2606040"/>
            <a:ext cx="2831591" cy="150876"/>
          </a:xfrm>
          <a:prstGeom prst="roundRect">
            <a:avLst>
              <a:gd name="adj" fmla="val 4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8992" y="2606040"/>
            <a:ext cx="95986" cy="150876"/>
          </a:xfrm>
          <a:prstGeom prst="roundRect">
            <a:avLst>
              <a:gd name="adj" fmla="val 4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848356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4455"/>
                </a:solidFill>
                <a:latin typeface="Arial"/>
              </a:rPr>
              <a:t>ISP G   78 ms  (41% local)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3049524"/>
            <a:ext cx="2831591" cy="150876"/>
          </a:xfrm>
          <a:prstGeom prst="roundRect">
            <a:avLst>
              <a:gd name="adj" fmla="val 4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992" y="3049524"/>
            <a:ext cx="1701573" cy="150876"/>
          </a:xfrm>
          <a:prstGeom prst="roundRect">
            <a:avLst>
              <a:gd name="adj" fmla="val 4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291840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4455"/>
                </a:solidFill>
                <a:latin typeface="Arial"/>
              </a:rPr>
              <a:t>ISP F   129.8 ms  (0% local)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3493008"/>
            <a:ext cx="2831591" cy="150876"/>
          </a:xfrm>
          <a:prstGeom prst="roundRect">
            <a:avLst>
              <a:gd name="adj" fmla="val 4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78992" y="3493008"/>
            <a:ext cx="2831591" cy="150876"/>
          </a:xfrm>
          <a:prstGeom prst="roundRect">
            <a:avLst>
              <a:gd name="adj" fmla="val 4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826764"/>
            <a:ext cx="2831591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ourier New"/>
              </a:rPr>
              <a:t>29.8x spread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101084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3A6C4"/>
                </a:solidFill>
                <a:latin typeface="Arial"/>
              </a:rPr>
              <a:t>slowest ISP ÷ fastest ISP, same city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2648" y="1874519"/>
            <a:ext cx="3343655" cy="315468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8680" y="2039112"/>
            <a:ext cx="2831591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ourier New"/>
              </a:rPr>
              <a:t>Lahore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8680" y="2404872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4455"/>
                </a:solidFill>
                <a:latin typeface="Arial"/>
              </a:rPr>
              <a:t>ISP C   2.8 ms  (84.6% local)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78680" y="2606040"/>
            <a:ext cx="2831591" cy="150876"/>
          </a:xfrm>
          <a:prstGeom prst="roundRect">
            <a:avLst>
              <a:gd name="adj" fmla="val 4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78680" y="2606040"/>
            <a:ext cx="61082" cy="150876"/>
          </a:xfrm>
          <a:prstGeom prst="roundRect">
            <a:avLst>
              <a:gd name="adj" fmla="val 4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78680" y="2848356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4455"/>
                </a:solidFill>
                <a:latin typeface="Arial"/>
              </a:rPr>
              <a:t>ISP I   91.1 ms  (0% local)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78680" y="3049524"/>
            <a:ext cx="2831591" cy="150876"/>
          </a:xfrm>
          <a:prstGeom prst="roundRect">
            <a:avLst>
              <a:gd name="adj" fmla="val 4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78680" y="3049524"/>
            <a:ext cx="1987350" cy="150876"/>
          </a:xfrm>
          <a:prstGeom prst="roundRect">
            <a:avLst>
              <a:gd name="adj" fmla="val 4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78680" y="3291840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4455"/>
                </a:solidFill>
                <a:latin typeface="Arial"/>
              </a:rPr>
              <a:t>ISP D   92.3 ms  (0% local)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78680" y="3493008"/>
            <a:ext cx="2831591" cy="150876"/>
          </a:xfrm>
          <a:prstGeom prst="roundRect">
            <a:avLst>
              <a:gd name="adj" fmla="val 4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78680" y="3493008"/>
            <a:ext cx="2013528" cy="150876"/>
          </a:xfrm>
          <a:prstGeom prst="roundRect">
            <a:avLst>
              <a:gd name="adj" fmla="val 4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8680" y="3735324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4455"/>
                </a:solidFill>
                <a:latin typeface="Arial"/>
              </a:rPr>
              <a:t>ISP H   94.6 ms  (0% local)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78680" y="3936492"/>
            <a:ext cx="2831591" cy="150876"/>
          </a:xfrm>
          <a:prstGeom prst="roundRect">
            <a:avLst>
              <a:gd name="adj" fmla="val 4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78680" y="3936492"/>
            <a:ext cx="2063702" cy="150876"/>
          </a:xfrm>
          <a:prstGeom prst="roundRect">
            <a:avLst>
              <a:gd name="adj" fmla="val 4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78680" y="4270248"/>
            <a:ext cx="2831591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ourier New"/>
              </a:rPr>
              <a:t>34x spread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78680" y="4544568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3A6C4"/>
                </a:solidFill>
                <a:latin typeface="Arial"/>
              </a:rPr>
              <a:t>slowest ISP ÷ fastest ISP, same city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2336" y="1874519"/>
            <a:ext cx="3343655" cy="315468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8367" y="2039112"/>
            <a:ext cx="2831591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ourier New"/>
              </a:rPr>
              <a:t>Islamabad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8367" y="2404872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4455"/>
                </a:solidFill>
                <a:latin typeface="Arial"/>
              </a:rPr>
              <a:t>ISP C   2.4 ms  (84.6% local)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8367" y="2606040"/>
            <a:ext cx="2831591" cy="150876"/>
          </a:xfrm>
          <a:prstGeom prst="roundRect">
            <a:avLst>
              <a:gd name="adj" fmla="val 4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78367" y="2606040"/>
            <a:ext cx="54864" cy="150876"/>
          </a:xfrm>
          <a:prstGeom prst="roundRect">
            <a:avLst>
              <a:gd name="adj" fmla="val 4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8367" y="2848356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4455"/>
                </a:solidFill>
                <a:latin typeface="Arial"/>
              </a:rPr>
              <a:t>ISP B   125.4 ms  (0% local)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78367" y="3049524"/>
            <a:ext cx="2831591" cy="150876"/>
          </a:xfrm>
          <a:prstGeom prst="roundRect">
            <a:avLst>
              <a:gd name="adj" fmla="val 4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78367" y="3049524"/>
            <a:ext cx="2735605" cy="150876"/>
          </a:xfrm>
          <a:prstGeom prst="roundRect">
            <a:avLst>
              <a:gd name="adj" fmla="val 4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8367" y="3383280"/>
            <a:ext cx="2831591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ourier New"/>
              </a:rPr>
              <a:t>52.3x spread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8367" y="3657600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3A6C4"/>
                </a:solidFill>
                <a:latin typeface="Arial"/>
              </a:rPr>
              <a:t>slowest ISP ÷ fastest ISP, same city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230368"/>
            <a:ext cx="10543032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93A6C4"/>
                </a:solidFill>
                <a:latin typeface="Arial"/>
              </a:rPr>
              <a:t>Islamabad is the sharpest version of the same pattern: domestic access barely varies by ISP, CDN access is a 52.3x gap decided entirely by which ISP you're 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