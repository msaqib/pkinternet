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81818"/>
                </a:solidFill>
                <a:latin typeface="Arial"/>
              </a:rPr>
              <a:t>Research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69848"/>
            <a:ext cx="502920" cy="38100"/>
          </a:xfrm>
          <a:prstGeom prst="rect">
            <a:avLst/>
          </a:prstGeom>
          <a:solidFill>
            <a:srgbClr val="3F5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898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A8A86"/>
                </a:solidFill>
                <a:latin typeface="Arial"/>
              </a:rPr>
              <a:t>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389888"/>
            <a:ext cx="99056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6"/>
                </a:solidFill>
                <a:latin typeface="Arial"/>
              </a:rPr>
              <a:t>Question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682496"/>
            <a:ext cx="10545775" cy="0"/>
          </a:xfrm>
          <a:prstGeom prst="line">
            <a:avLst/>
          </a:prstGeom>
          <a:ln w="9525">
            <a:solidFill>
              <a:srgbClr val="E2E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892808"/>
            <a:ext cx="640080" cy="9601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 sz="1800" b="1">
                <a:solidFill>
                  <a:srgbClr val="3F5B3F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92808"/>
            <a:ext cx="9905695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</a:pPr>
            <a:r>
              <a:rPr sz="1700">
                <a:solidFill>
                  <a:srgbClr val="181818"/>
                </a:solidFill>
                <a:latin typeface="Arial"/>
              </a:rPr>
              <a:t>Does traffic to domestically hosted and CDN-hosted content cross Pakistan's Internet exchange points?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2743200"/>
            <a:ext cx="10545775" cy="0"/>
          </a:xfrm>
          <a:prstGeom prst="line">
            <a:avLst/>
          </a:prstGeom>
          <a:ln w="9525">
            <a:solidFill>
              <a:srgbClr val="E2E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2852928"/>
            <a:ext cx="640080" cy="9601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 sz="1800" b="1">
                <a:solidFill>
                  <a:srgbClr val="3F5B3F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852928"/>
            <a:ext cx="9905695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</a:pPr>
            <a:r>
              <a:rPr sz="1700">
                <a:solidFill>
                  <a:srgbClr val="181818"/>
                </a:solidFill>
                <a:latin typeface="Arial"/>
              </a:rPr>
              <a:t>Do users on different ISPs in the same city get similar latency to the same content?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3703320"/>
            <a:ext cx="10545775" cy="0"/>
          </a:xfrm>
          <a:prstGeom prst="line">
            <a:avLst/>
          </a:prstGeom>
          <a:ln w="9525">
            <a:solidFill>
              <a:srgbClr val="E2E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3813048"/>
            <a:ext cx="640080" cy="9601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 sz="1800" b="1">
                <a:solidFill>
                  <a:srgbClr val="3F5B3F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813048"/>
            <a:ext cx="9905695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</a:pPr>
            <a:r>
              <a:rPr sz="1700">
                <a:solidFill>
                  <a:srgbClr val="181818"/>
                </a:solidFill>
                <a:latin typeface="Arial"/>
              </a:rPr>
              <a:t>How much Pakistani traffic to domestic destinations trombones through foreign networks, which ISPs and paths carry it, and at what RTT cost?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4663440"/>
            <a:ext cx="10545775" cy="0"/>
          </a:xfrm>
          <a:prstGeom prst="line">
            <a:avLst/>
          </a:prstGeom>
          <a:ln w="9525">
            <a:solidFill>
              <a:srgbClr val="E2E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4773168"/>
            <a:ext cx="640080" cy="9601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 sz="1800" b="1">
                <a:solidFill>
                  <a:srgbClr val="3F5B3F"/>
                </a:solidFill>
                <a:latin typeface="Arial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773168"/>
            <a:ext cx="9905695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</a:pPr>
            <a:r>
              <a:rPr sz="1700">
                <a:solidFill>
                  <a:srgbClr val="181818"/>
                </a:solidFill>
                <a:latin typeface="Arial"/>
              </a:rPr>
              <a:t>Where tromboning happens, does a local path demonstrably exist?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2960" y="5623560"/>
            <a:ext cx="10545775" cy="0"/>
          </a:xfrm>
          <a:prstGeom prst="line">
            <a:avLst/>
          </a:prstGeom>
          <a:ln w="9525">
            <a:solidFill>
              <a:srgbClr val="E2E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