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Courier New" charset="1" panose="02070309020205020404"/>
      <p:regular r:id="rId7"/>
    </p:embeddedFont>
    <p:embeddedFont>
      <p:font typeface="Georgia Bold" charset="1" panose="02040802050405020203"/>
      <p:regular r:id="rId8"/>
    </p:embeddedFont>
    <p:embeddedFont>
      <p:font typeface="Arial" charset="1" panose="020B0604020202020204"/>
      <p:regular r:id="rId9"/>
    </p:embeddedFont>
    <p:embeddedFont>
      <p:font typeface="Courier New Bold" charset="1" panose="020706090202050204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6842" y="722528"/>
            <a:ext cx="5994149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3A6C4"/>
                </a:solidFill>
                <a:latin typeface="Courier New"/>
                <a:ea typeface="Courier New"/>
                <a:cs typeface="Courier New"/>
                <a:sym typeface="Courier New"/>
              </a:rPr>
              <a:t>RQ4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6842" y="1116406"/>
            <a:ext cx="15648146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B2A4A"/>
                </a:solidFill>
                <a:latin typeface="Georgia Bold"/>
                <a:ea typeface="Georgia Bold"/>
                <a:cs typeface="Georgia Bold"/>
                <a:sym typeface="Georgia Bold"/>
              </a:rPr>
              <a:t>A Local Path Exists: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28258" y="2573474"/>
            <a:ext cx="15845333" cy="2416475"/>
            <a:chOff x="0" y="0"/>
            <a:chExt cx="21127110" cy="32219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27086" cy="3221992"/>
            </a:xfrm>
            <a:custGeom>
              <a:avLst/>
              <a:gdLst/>
              <a:ahLst/>
              <a:cxnLst/>
              <a:rect r="r" b="b" t="t" l="l"/>
              <a:pathLst>
                <a:path h="3221992" w="21127086">
                  <a:moveTo>
                    <a:pt x="0" y="128905"/>
                  </a:moveTo>
                  <a:cubicBezTo>
                    <a:pt x="0" y="57658"/>
                    <a:pt x="57658" y="0"/>
                    <a:pt x="128905" y="0"/>
                  </a:cubicBezTo>
                  <a:lnTo>
                    <a:pt x="20998180" y="0"/>
                  </a:lnTo>
                  <a:cubicBezTo>
                    <a:pt x="21069300" y="0"/>
                    <a:pt x="21127086" y="57658"/>
                    <a:pt x="21127086" y="128905"/>
                  </a:cubicBezTo>
                  <a:lnTo>
                    <a:pt x="21127086" y="3093087"/>
                  </a:lnTo>
                  <a:cubicBezTo>
                    <a:pt x="21127086" y="3164207"/>
                    <a:pt x="21069427" y="3221992"/>
                    <a:pt x="20998180" y="3221992"/>
                  </a:cubicBezTo>
                  <a:lnTo>
                    <a:pt x="128905" y="3221992"/>
                  </a:lnTo>
                  <a:cubicBezTo>
                    <a:pt x="57658" y="3221992"/>
                    <a:pt x="0" y="3164207"/>
                    <a:pt x="0" y="3093088"/>
                  </a:cubicBezTo>
                  <a:close/>
                </a:path>
              </a:pathLst>
            </a:custGeom>
            <a:solidFill>
              <a:srgbClr val="EEF2FA"/>
            </a:solidFill>
            <a:ln w="14299" cap="sq">
              <a:solidFill>
                <a:srgbClr val="DCE4F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1127110" cy="3298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77"/>
                </a:lnSpc>
              </a:pPr>
              <a:r>
                <a:rPr lang="en-US" sz="2251">
                  <a:solidFill>
                    <a:srgbClr val="3A4455"/>
                  </a:solidFill>
                  <a:latin typeface="Arial"/>
                  <a:ea typeface="Arial"/>
                  <a:cs typeface="Arial"/>
                  <a:sym typeface="Arial"/>
                </a:rPr>
                <a:t>Three sites account for 86% of all tromboned traces. ISP A reaches every one of them without leaving the country on every single round, while six of the nine operators trombone to them on essentially every round. This is a measurement, not a blind spot: ISP A's probe resolves as many mid-path hops as the probes that do register tromboning.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8258" y="5181552"/>
            <a:ext cx="15845333" cy="2691010"/>
            <a:chOff x="0" y="0"/>
            <a:chExt cx="21127110" cy="35880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127086" cy="3588000"/>
            </a:xfrm>
            <a:custGeom>
              <a:avLst/>
              <a:gdLst/>
              <a:ahLst/>
              <a:cxnLst/>
              <a:rect r="r" b="b" t="t" l="l"/>
              <a:pathLst>
                <a:path h="3588000" w="21127086">
                  <a:moveTo>
                    <a:pt x="0" y="143510"/>
                  </a:moveTo>
                  <a:cubicBezTo>
                    <a:pt x="0" y="64262"/>
                    <a:pt x="64262" y="0"/>
                    <a:pt x="143510" y="0"/>
                  </a:cubicBezTo>
                  <a:lnTo>
                    <a:pt x="20983575" y="0"/>
                  </a:lnTo>
                  <a:cubicBezTo>
                    <a:pt x="21062823" y="0"/>
                    <a:pt x="21127086" y="64262"/>
                    <a:pt x="21127086" y="143510"/>
                  </a:cubicBezTo>
                  <a:lnTo>
                    <a:pt x="21127086" y="3444491"/>
                  </a:lnTo>
                  <a:cubicBezTo>
                    <a:pt x="21127086" y="3523738"/>
                    <a:pt x="21062823" y="3588000"/>
                    <a:pt x="20983575" y="3588000"/>
                  </a:cubicBezTo>
                  <a:lnTo>
                    <a:pt x="143510" y="3588000"/>
                  </a:lnTo>
                  <a:cubicBezTo>
                    <a:pt x="64262" y="3588000"/>
                    <a:pt x="0" y="3523738"/>
                    <a:pt x="0" y="3444491"/>
                  </a:cubicBezTo>
                  <a:close/>
                </a:path>
              </a:pathLst>
            </a:custGeom>
            <a:solidFill>
              <a:srgbClr val="EEF2FA"/>
            </a:solidFill>
            <a:ln w="14299" cap="sq">
              <a:solidFill>
                <a:srgbClr val="DCE4F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1127110" cy="36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77"/>
                </a:lnSpc>
              </a:pPr>
              <a:r>
                <a:rPr lang="en-US" sz="2251">
                  <a:solidFill>
                    <a:srgbClr val="3A4455"/>
                  </a:solidFill>
                  <a:latin typeface="Arial"/>
                  <a:ea typeface="Arial"/>
                  <a:cs typeface="Arial"/>
                  <a:sym typeface="Arial"/>
                </a:rPr>
                <a:t>One financial-services site makes the mechanism concrete: ISP A reaches it in 5.4 ms over a domestic connection. Six of the nine operators reach the same server only by routing abroad first, through Oman for ISP F and through Singapore for ISP D and ISP I, arriving 15 to 33 times slower. Every path that leaves the country still enters through the same ISP A edge, so the domestic path already carries real traffic, it isn't just possible in principle.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8258" y="8132797"/>
            <a:ext cx="7586643" cy="1386973"/>
            <a:chOff x="0" y="0"/>
            <a:chExt cx="10115525" cy="18492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15550" cy="1849374"/>
            </a:xfrm>
            <a:custGeom>
              <a:avLst/>
              <a:gdLst/>
              <a:ahLst/>
              <a:cxnLst/>
              <a:rect r="r" b="b" t="t" l="l"/>
              <a:pathLst>
                <a:path h="1849374" w="10115550">
                  <a:moveTo>
                    <a:pt x="0" y="110998"/>
                  </a:moveTo>
                  <a:cubicBezTo>
                    <a:pt x="0" y="49657"/>
                    <a:pt x="49657" y="0"/>
                    <a:pt x="110998" y="0"/>
                  </a:cubicBezTo>
                  <a:lnTo>
                    <a:pt x="10004552" y="0"/>
                  </a:lnTo>
                  <a:cubicBezTo>
                    <a:pt x="10065893" y="0"/>
                    <a:pt x="10115550" y="49657"/>
                    <a:pt x="10115550" y="110998"/>
                  </a:cubicBezTo>
                  <a:lnTo>
                    <a:pt x="10115550" y="1738376"/>
                  </a:lnTo>
                  <a:cubicBezTo>
                    <a:pt x="10115550" y="1799717"/>
                    <a:pt x="10065893" y="1849374"/>
                    <a:pt x="10004552" y="1849374"/>
                  </a:cubicBezTo>
                  <a:lnTo>
                    <a:pt x="110998" y="1849374"/>
                  </a:lnTo>
                  <a:cubicBezTo>
                    <a:pt x="49657" y="1849374"/>
                    <a:pt x="0" y="1799717"/>
                    <a:pt x="0" y="1738376"/>
                  </a:cubicBezTo>
                  <a:close/>
                </a:path>
              </a:pathLst>
            </a:custGeom>
            <a:solidFill>
              <a:srgbClr val="EEF2FA"/>
            </a:solidFill>
            <a:ln w="14299" cap="sq">
              <a:solidFill>
                <a:srgbClr val="DCE4F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0115525" cy="185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B2A4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415 / 16 / 13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93A6C4"/>
                  </a:solidFill>
                  <a:latin typeface="Arial"/>
                  <a:ea typeface="Arial"/>
                  <a:cs typeface="Arial"/>
                  <a:sym typeface="Arial"/>
                </a:rPr>
                <a:t>of 444 probe-site pairs: never / always / sometimes tromboned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86938" y="8132797"/>
            <a:ext cx="7586643" cy="1509080"/>
            <a:chOff x="0" y="0"/>
            <a:chExt cx="10115525" cy="20121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15550" cy="2012183"/>
            </a:xfrm>
            <a:custGeom>
              <a:avLst/>
              <a:gdLst/>
              <a:ahLst/>
              <a:cxnLst/>
              <a:rect r="r" b="b" t="t" l="l"/>
              <a:pathLst>
                <a:path h="2012183" w="10115550">
                  <a:moveTo>
                    <a:pt x="0" y="120770"/>
                  </a:moveTo>
                  <a:cubicBezTo>
                    <a:pt x="0" y="54029"/>
                    <a:pt x="49657" y="0"/>
                    <a:pt x="110998" y="0"/>
                  </a:cubicBezTo>
                  <a:lnTo>
                    <a:pt x="10004552" y="0"/>
                  </a:lnTo>
                  <a:cubicBezTo>
                    <a:pt x="10065893" y="0"/>
                    <a:pt x="10115550" y="54029"/>
                    <a:pt x="10115550" y="120770"/>
                  </a:cubicBezTo>
                  <a:lnTo>
                    <a:pt x="10115550" y="1891419"/>
                  </a:lnTo>
                  <a:cubicBezTo>
                    <a:pt x="10115550" y="1958161"/>
                    <a:pt x="10065893" y="2012183"/>
                    <a:pt x="10004552" y="2012183"/>
                  </a:cubicBezTo>
                  <a:lnTo>
                    <a:pt x="110998" y="2012183"/>
                  </a:lnTo>
                  <a:cubicBezTo>
                    <a:pt x="49657" y="2012183"/>
                    <a:pt x="0" y="1958161"/>
                    <a:pt x="0" y="1891419"/>
                  </a:cubicBezTo>
                  <a:close/>
                </a:path>
              </a:pathLst>
            </a:custGeom>
            <a:solidFill>
              <a:srgbClr val="EEF2FA"/>
            </a:solidFill>
            <a:ln w="14299" cap="sq">
              <a:solidFill>
                <a:srgbClr val="DCE4F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0115525" cy="2021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B2A4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8 / 37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93A6C4"/>
                  </a:solidFill>
                  <a:latin typeface="Arial"/>
                  <a:ea typeface="Arial"/>
                  <a:cs typeface="Arial"/>
                  <a:sym typeface="Arial"/>
                </a:rPr>
                <a:t>sites ever confirmed tromboned from any vantage; none exceeds 90% of traceroute rounds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DAHQmNCR0fo</dc:identifier>
  <dcterms:modified xsi:type="dcterms:W3CDTF">2011-08-01T06:04:30Z</dcterms:modified>
  <cp:revision>1</cp:revision>
  <dc:title>Local Path Project</dc:title>
</cp:coreProperties>
</file>