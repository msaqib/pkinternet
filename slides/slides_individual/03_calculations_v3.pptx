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Calculations: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LATENCY RATIO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1770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5564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Physics floor: </a:t>
            </a:r>
            <a:r>
              <a:rPr sz="1500">
                <a:solidFill>
                  <a:srgbClr val="3A4455"/>
                </a:solidFill>
                <a:latin typeface="Arial"/>
              </a:rPr>
              <a:t>fastest RTT the distance allows, at the speed of light in fiber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638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2432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PK / Abroad sites: </a:t>
            </a:r>
            <a:r>
              <a:rPr sz="1500">
                <a:solidFill>
                  <a:srgbClr val="3A4455"/>
                </a:solidFill>
                <a:latin typeface="Arial"/>
              </a:rPr>
              <a:t>floor from straight-line probe-to-server distance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506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9300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CDN sites: </a:t>
            </a:r>
            <a:r>
              <a:rPr sz="1500">
                <a:solidFill>
                  <a:srgbClr val="3A4455"/>
                </a:solidFill>
                <a:latin typeface="Arial"/>
              </a:rPr>
              <a:t>floor is the best RTT any of our probes achieved to that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12080"/>
            <a:ext cx="4998567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ratio = RTT / floor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1x = physical limit, k = k times slower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3716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TROMBONING CLASSIFICATION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370167" y="191770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175564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Scope: </a:t>
            </a:r>
            <a:r>
              <a:rPr sz="1500">
                <a:solidFill>
                  <a:srgbClr val="3A4455"/>
                </a:solidFill>
                <a:latin typeface="Arial"/>
              </a:rPr>
              <a:t>Pakistani-hosted sites only; CDN/Abroad expected to exit anyway</a:t>
            </a:r>
          </a:p>
        </p:txBody>
      </p:sp>
      <p:sp>
        <p:nvSpPr>
          <p:cNvPr id="14" name="Oval 13"/>
          <p:cNvSpPr/>
          <p:nvPr/>
        </p:nvSpPr>
        <p:spPr>
          <a:xfrm>
            <a:off x="6370167" y="278638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1335" y="262432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Rule: </a:t>
            </a:r>
            <a:r>
              <a:rPr sz="1500">
                <a:solidFill>
                  <a:srgbClr val="3A4455"/>
                </a:solidFill>
                <a:latin typeface="Arial"/>
              </a:rPr>
              <a:t>tromboned if any hop belongs to a foreign-registered network</a:t>
            </a:r>
          </a:p>
        </p:txBody>
      </p:sp>
      <p:sp>
        <p:nvSpPr>
          <p:cNvPr id="16" name="Oval 15"/>
          <p:cNvSpPr/>
          <p:nvPr/>
        </p:nvSpPr>
        <p:spPr>
          <a:xfrm>
            <a:off x="6370167" y="365506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1335" y="349300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Exceptions: </a:t>
            </a:r>
            <a:r>
              <a:rPr sz="1500">
                <a:solidFill>
                  <a:srgbClr val="3A4455"/>
                </a:solidFill>
                <a:latin typeface="Arial"/>
              </a:rPr>
              <a:t>Shaw Communications &amp; Cogent IPs, foreign-registered but confirmed inside Pakistan by RTT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4800600"/>
            <a:ext cx="4998567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93A6C4"/>
                </a:solidFill>
                <a:latin typeface="Arial"/>
              </a:rPr>
              <a:t>Example traceroute (anonymised)  ·  verdict TROMBONE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0310" y="4983480"/>
            <a:ext cx="1478280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8391F"/>
                </a:solidFill>
                <a:latin typeface="Courier New"/>
              </a:rPr>
              <a:t>LEAVES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1990" y="5166360"/>
            <a:ext cx="1478280" cy="457200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1990" y="5166360"/>
            <a:ext cx="1478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B2A4A"/>
                </a:solidFill>
                <a:latin typeface="Arial"/>
              </a:rPr>
              <a:t>Source ISP (PK)</a:t>
            </a:r>
          </a:p>
          <a:p>
            <a:pPr algn="ctr"/>
            <a:r>
              <a:rPr sz="950" b="0">
                <a:solidFill>
                  <a:srgbClr val="3A4455"/>
                </a:solidFill>
                <a:latin typeface="Courier New"/>
              </a:rPr>
              <a:t>23.3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270" y="5166360"/>
            <a:ext cx="32004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3A6C4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0310" y="5166360"/>
            <a:ext cx="1478280" cy="457200"/>
          </a:xfrm>
          <a:prstGeom prst="roundRect">
            <a:avLst>
              <a:gd name="adj" fmla="val 14000"/>
            </a:avLst>
          </a:prstGeom>
          <a:solidFill>
            <a:srgbClr val="C83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0310" y="5166360"/>
            <a:ext cx="1478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Foreign transit (US)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urier New"/>
              </a:rPr>
              <a:t>42.3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8590" y="5166360"/>
            <a:ext cx="32004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3A6C4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8630" y="5166360"/>
            <a:ext cx="1478280" cy="457200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8630" y="5166360"/>
            <a:ext cx="1478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B2A4A"/>
                </a:solidFill>
                <a:latin typeface="Arial"/>
              </a:rPr>
              <a:t>Destination ISP (PK)</a:t>
            </a:r>
          </a:p>
          <a:p>
            <a:pPr algn="ctr"/>
            <a:r>
              <a:rPr sz="950" b="0">
                <a:solidFill>
                  <a:srgbClr val="3A4455"/>
                </a:solidFill>
                <a:latin typeface="Courier New"/>
              </a:rPr>
              <a:t>42.0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