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Courier New" charset="1" panose="02070309020205020404"/>
      <p:regular r:id="rId7"/>
    </p:embeddedFont>
    <p:embeddedFont>
      <p:font typeface="Georgia Bold" charset="1" panose="02040802050405020203"/>
      <p:regular r:id="rId8"/>
    </p:embeddedFont>
    <p:embeddedFont>
      <p:font typeface="Courier New Bold" charset="1" panose="02070609020205020404"/>
      <p:regular r:id="rId9"/>
    </p:embeddedFont>
    <p:embeddedFont>
      <p:font typeface="Calibri (MS)" charset="1" panose="020F0502020204030204"/>
      <p:regular r:id="rId10"/>
    </p:embeddedFont>
    <p:embeddedFont>
      <p:font typeface="Arial" charset="1" panose="020B0604020202020204"/>
      <p:regular r:id="rId11"/>
    </p:embeddedFont>
    <p:embeddedFont>
      <p:font typeface="Arial Italics" charset="1" panose="020B060402020209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6842" y="722528"/>
            <a:ext cx="5994149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3A6C4"/>
                </a:solidFill>
                <a:latin typeface="Courier New"/>
                <a:ea typeface="Courier New"/>
                <a:cs typeface="Courier New"/>
                <a:sym typeface="Courier New"/>
              </a:rPr>
              <a:t>RQ2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6842" y="1116406"/>
            <a:ext cx="15648146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B2A4A"/>
                </a:solidFill>
                <a:latin typeface="Georgia Bold"/>
                <a:ea typeface="Georgia Bold"/>
                <a:cs typeface="Georgia Bold"/>
                <a:sym typeface="Georgia Bold"/>
              </a:rPr>
              <a:t>Same-City Latency: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6842" y="2548185"/>
            <a:ext cx="738946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1B2A4A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DOMESTIC CONTENT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28258" y="3259807"/>
            <a:ext cx="7586643" cy="2444994"/>
            <a:chOff x="0" y="0"/>
            <a:chExt cx="10115525" cy="32599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15423" cy="3259961"/>
            </a:xfrm>
            <a:custGeom>
              <a:avLst/>
              <a:gdLst/>
              <a:ahLst/>
              <a:cxnLst/>
              <a:rect r="r" b="b" t="t" l="l"/>
              <a:pathLst>
                <a:path h="3259961" w="10115423">
                  <a:moveTo>
                    <a:pt x="0" y="130361"/>
                  </a:moveTo>
                  <a:cubicBezTo>
                    <a:pt x="0" y="58427"/>
                    <a:pt x="70866" y="0"/>
                    <a:pt x="158115" y="0"/>
                  </a:cubicBezTo>
                  <a:lnTo>
                    <a:pt x="9957308" y="0"/>
                  </a:lnTo>
                  <a:cubicBezTo>
                    <a:pt x="10044684" y="0"/>
                    <a:pt x="10115423" y="58427"/>
                    <a:pt x="10115423" y="130361"/>
                  </a:cubicBezTo>
                  <a:lnTo>
                    <a:pt x="10115423" y="3129600"/>
                  </a:lnTo>
                  <a:cubicBezTo>
                    <a:pt x="10115423" y="3201639"/>
                    <a:pt x="10044557" y="3259961"/>
                    <a:pt x="9957308" y="3259961"/>
                  </a:cubicBezTo>
                  <a:lnTo>
                    <a:pt x="158115" y="3259961"/>
                  </a:lnTo>
                  <a:cubicBezTo>
                    <a:pt x="70866" y="3259961"/>
                    <a:pt x="0" y="3201639"/>
                    <a:pt x="0" y="3129600"/>
                  </a:cubicBezTo>
                  <a:close/>
                </a:path>
              </a:pathLst>
            </a:custGeom>
            <a:solidFill>
              <a:srgbClr val="EEF2FA"/>
            </a:solidFill>
            <a:ln w="14299" cap="sq">
              <a:solidFill>
                <a:srgbClr val="DCE4F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0115525" cy="3364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52"/>
                </a:lnSpc>
              </a:pPr>
              <a:r>
                <a:rPr lang="en-US" sz="2101">
                  <a:solidFill>
                    <a:srgbClr val="3A44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gap is small. In Karachi, ISPs A, G, and F reach Pakistani-hosted sites at a median 18.4, 20.3, and 41.3 ms, a 2.2x spread. In Lahore, ISPs I, D, H, and C run a median 17.5 to 23.7 ms, a 1.4x spread.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8258" y="6238513"/>
            <a:ext cx="7586643" cy="1386973"/>
            <a:chOff x="0" y="0"/>
            <a:chExt cx="10115525" cy="18492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15550" cy="1849374"/>
            </a:xfrm>
            <a:custGeom>
              <a:avLst/>
              <a:gdLst/>
              <a:ahLst/>
              <a:cxnLst/>
              <a:rect r="r" b="b" t="t" l="l"/>
              <a:pathLst>
                <a:path h="1849374" w="10115550">
                  <a:moveTo>
                    <a:pt x="0" y="110998"/>
                  </a:moveTo>
                  <a:cubicBezTo>
                    <a:pt x="0" y="49657"/>
                    <a:pt x="49657" y="0"/>
                    <a:pt x="110998" y="0"/>
                  </a:cubicBezTo>
                  <a:lnTo>
                    <a:pt x="10004552" y="0"/>
                  </a:lnTo>
                  <a:cubicBezTo>
                    <a:pt x="10065893" y="0"/>
                    <a:pt x="10115550" y="49657"/>
                    <a:pt x="10115550" y="110998"/>
                  </a:cubicBezTo>
                  <a:lnTo>
                    <a:pt x="10115550" y="1738376"/>
                  </a:lnTo>
                  <a:cubicBezTo>
                    <a:pt x="10115550" y="1799717"/>
                    <a:pt x="10065893" y="1849374"/>
                    <a:pt x="10004552" y="1849374"/>
                  </a:cubicBezTo>
                  <a:lnTo>
                    <a:pt x="110998" y="1849374"/>
                  </a:lnTo>
                  <a:cubicBezTo>
                    <a:pt x="49657" y="1849374"/>
                    <a:pt x="0" y="1799717"/>
                    <a:pt x="0" y="1738376"/>
                  </a:cubicBezTo>
                  <a:close/>
                </a:path>
              </a:pathLst>
            </a:custGeom>
            <a:solidFill>
              <a:srgbClr val="EEF2FA"/>
            </a:solidFill>
            <a:ln w="14299" cap="sq">
              <a:solidFill>
                <a:srgbClr val="DCE4F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115525" cy="185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B2A4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2.2x / 1.4x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93A6C4"/>
                  </a:solidFill>
                  <a:latin typeface="Arial"/>
                  <a:ea typeface="Arial"/>
                  <a:cs typeface="Arial"/>
                  <a:sym typeface="Arial"/>
                </a:rPr>
                <a:t>Karachi / Lahore spread, domestic sites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585531" y="2548185"/>
            <a:ext cx="738946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1B2A4A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CDN CONTENT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86938" y="3259807"/>
            <a:ext cx="7586643" cy="2444994"/>
            <a:chOff x="0" y="0"/>
            <a:chExt cx="10115525" cy="32599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15423" cy="3259961"/>
            </a:xfrm>
            <a:custGeom>
              <a:avLst/>
              <a:gdLst/>
              <a:ahLst/>
              <a:cxnLst/>
              <a:rect r="r" b="b" t="t" l="l"/>
              <a:pathLst>
                <a:path h="3259961" w="10115423">
                  <a:moveTo>
                    <a:pt x="0" y="130361"/>
                  </a:moveTo>
                  <a:cubicBezTo>
                    <a:pt x="0" y="58427"/>
                    <a:pt x="70866" y="0"/>
                    <a:pt x="158115" y="0"/>
                  </a:cubicBezTo>
                  <a:lnTo>
                    <a:pt x="9957308" y="0"/>
                  </a:lnTo>
                  <a:cubicBezTo>
                    <a:pt x="10044684" y="0"/>
                    <a:pt x="10115423" y="58427"/>
                    <a:pt x="10115423" y="130361"/>
                  </a:cubicBezTo>
                  <a:lnTo>
                    <a:pt x="10115423" y="3129600"/>
                  </a:lnTo>
                  <a:cubicBezTo>
                    <a:pt x="10115423" y="3201639"/>
                    <a:pt x="10044557" y="3259961"/>
                    <a:pt x="9957308" y="3259961"/>
                  </a:cubicBezTo>
                  <a:lnTo>
                    <a:pt x="158115" y="3259961"/>
                  </a:lnTo>
                  <a:cubicBezTo>
                    <a:pt x="70866" y="3259961"/>
                    <a:pt x="0" y="3201639"/>
                    <a:pt x="0" y="3129600"/>
                  </a:cubicBezTo>
                  <a:close/>
                </a:path>
              </a:pathLst>
            </a:custGeom>
            <a:solidFill>
              <a:srgbClr val="EEF2FA"/>
            </a:solidFill>
            <a:ln w="14299" cap="sq">
              <a:solidFill>
                <a:srgbClr val="DCE4F3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0115525" cy="3336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2"/>
                </a:lnSpc>
              </a:pPr>
              <a:r>
                <a:rPr lang="en-US" sz="2001">
                  <a:solidFill>
                    <a:srgbClr val="3A44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Karachi, ISP A reaches CDN content at a median 4.4 ms with 61.5% served locally, ISP G at 78.0 ms with 41.0% local, and ISP F at 129.8 ms with none local, a 29.8x spread. In Lahore, ISP C reaches a median 2.8 ms with 84.6% local, while ISPs D, H, and I cluster at 91 to 95 ms with zero local hits, a 34x spread.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86938" y="6238513"/>
            <a:ext cx="7586643" cy="1386973"/>
            <a:chOff x="0" y="0"/>
            <a:chExt cx="10115525" cy="18492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15550" cy="1849374"/>
            </a:xfrm>
            <a:custGeom>
              <a:avLst/>
              <a:gdLst/>
              <a:ahLst/>
              <a:cxnLst/>
              <a:rect r="r" b="b" t="t" l="l"/>
              <a:pathLst>
                <a:path h="1849374" w="10115550">
                  <a:moveTo>
                    <a:pt x="0" y="110998"/>
                  </a:moveTo>
                  <a:cubicBezTo>
                    <a:pt x="0" y="49657"/>
                    <a:pt x="49657" y="0"/>
                    <a:pt x="110998" y="0"/>
                  </a:cubicBezTo>
                  <a:lnTo>
                    <a:pt x="10004552" y="0"/>
                  </a:lnTo>
                  <a:cubicBezTo>
                    <a:pt x="10065893" y="0"/>
                    <a:pt x="10115550" y="49657"/>
                    <a:pt x="10115550" y="110998"/>
                  </a:cubicBezTo>
                  <a:lnTo>
                    <a:pt x="10115550" y="1738376"/>
                  </a:lnTo>
                  <a:cubicBezTo>
                    <a:pt x="10115550" y="1799717"/>
                    <a:pt x="10065893" y="1849374"/>
                    <a:pt x="10004552" y="1849374"/>
                  </a:cubicBezTo>
                  <a:lnTo>
                    <a:pt x="110998" y="1849374"/>
                  </a:lnTo>
                  <a:cubicBezTo>
                    <a:pt x="49657" y="1849374"/>
                    <a:pt x="0" y="1799717"/>
                    <a:pt x="0" y="1738376"/>
                  </a:cubicBezTo>
                  <a:close/>
                </a:path>
              </a:pathLst>
            </a:custGeom>
            <a:solidFill>
              <a:srgbClr val="EEF2FA"/>
            </a:solidFill>
            <a:ln w="14299" cap="sq">
              <a:solidFill>
                <a:srgbClr val="DCE4F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0115525" cy="185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B2A4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29.8x / 34x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93A6C4"/>
                  </a:solidFill>
                  <a:latin typeface="Arial"/>
                  <a:ea typeface="Arial"/>
                  <a:cs typeface="Arial"/>
                  <a:sym typeface="Arial"/>
                </a:rPr>
                <a:t>Karachi / Lahore spread, CDN sites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26842" y="7919533"/>
            <a:ext cx="1564814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i="true">
                <a:solidFill>
                  <a:srgbClr val="93A6C4"/>
                </a:solidFill>
                <a:latin typeface="Arial Italics"/>
                <a:ea typeface="Arial Italics"/>
                <a:cs typeface="Arial Italics"/>
                <a:sym typeface="Arial Italics"/>
              </a:rPr>
              <a:t>Cross-checked against Cloudflare's own edge for ISP C: 31 of 33 sites answered from a Pakistani point of presence, with 0 to 3 ms handshakes.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DAHQmNCR0fo</dc:identifier>
  <dcterms:modified xsi:type="dcterms:W3CDTF">2011-08-01T06:04:30Z</dcterms:modified>
  <cp:revision>1</cp:revision>
  <dc:title>Local Path Project</dc:title>
</cp:coreProperties>
</file>